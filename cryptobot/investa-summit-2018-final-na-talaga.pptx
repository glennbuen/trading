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48" r:id="rId3"/>
    <p:sldId id="284" r:id="rId4"/>
    <p:sldId id="257" r:id="rId5"/>
    <p:sldId id="282" r:id="rId6"/>
    <p:sldId id="258" r:id="rId7"/>
    <p:sldId id="259" r:id="rId8"/>
    <p:sldId id="280" r:id="rId9"/>
    <p:sldId id="370" r:id="rId10"/>
    <p:sldId id="260" r:id="rId11"/>
    <p:sldId id="281" r:id="rId12"/>
    <p:sldId id="261" r:id="rId13"/>
    <p:sldId id="263" r:id="rId14"/>
    <p:sldId id="264" r:id="rId15"/>
    <p:sldId id="265" r:id="rId16"/>
    <p:sldId id="262" r:id="rId17"/>
    <p:sldId id="368" r:id="rId18"/>
    <p:sldId id="266" r:id="rId19"/>
    <p:sldId id="367" r:id="rId20"/>
    <p:sldId id="285" r:id="rId21"/>
    <p:sldId id="286" r:id="rId22"/>
    <p:sldId id="386" r:id="rId23"/>
    <p:sldId id="366" r:id="rId24"/>
    <p:sldId id="388" r:id="rId25"/>
    <p:sldId id="387" r:id="rId26"/>
    <p:sldId id="287" r:id="rId27"/>
    <p:sldId id="279" r:id="rId28"/>
    <p:sldId id="277" r:id="rId29"/>
    <p:sldId id="351" r:id="rId30"/>
    <p:sldId id="365" r:id="rId31"/>
    <p:sldId id="278" r:id="rId32"/>
    <p:sldId id="369" r:id="rId33"/>
    <p:sldId id="353" r:id="rId34"/>
    <p:sldId id="379" r:id="rId35"/>
    <p:sldId id="349" r:id="rId36"/>
    <p:sldId id="350" r:id="rId37"/>
    <p:sldId id="364" r:id="rId38"/>
    <p:sldId id="352" r:id="rId39"/>
    <p:sldId id="283" r:id="rId40"/>
    <p:sldId id="354" r:id="rId41"/>
    <p:sldId id="355" r:id="rId42"/>
    <p:sldId id="356" r:id="rId43"/>
    <p:sldId id="380" r:id="rId44"/>
    <p:sldId id="381" r:id="rId45"/>
    <p:sldId id="382" r:id="rId46"/>
    <p:sldId id="383" r:id="rId47"/>
    <p:sldId id="384" r:id="rId48"/>
    <p:sldId id="385" r:id="rId49"/>
    <p:sldId id="371" r:id="rId50"/>
    <p:sldId id="372" r:id="rId51"/>
    <p:sldId id="373" r:id="rId52"/>
    <p:sldId id="374" r:id="rId53"/>
    <p:sldId id="375" r:id="rId54"/>
    <p:sldId id="377" r:id="rId55"/>
    <p:sldId id="376" r:id="rId56"/>
    <p:sldId id="378" r:id="rId57"/>
    <p:sldId id="358" r:id="rId58"/>
    <p:sldId id="359" r:id="rId59"/>
    <p:sldId id="360" r:id="rId60"/>
    <p:sldId id="362" r:id="rId61"/>
    <p:sldId id="36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3" autoAdjust="0"/>
    <p:restoredTop sz="94660"/>
  </p:normalViewPr>
  <p:slideViewPr>
    <p:cSldViewPr snapToGrid="0">
      <p:cViewPr>
        <p:scale>
          <a:sx n="89" d="100"/>
          <a:sy n="89" d="100"/>
        </p:scale>
        <p:origin x="-394" y="-67"/>
      </p:cViewPr>
      <p:guideLst>
        <p:guide orient="horz" pos="2160"/>
        <p:guide pos="3840"/>
      </p:guideLst>
    </p:cSldViewPr>
  </p:slideViewPr>
  <p:notesTextViewPr>
    <p:cViewPr>
      <p:scale>
        <a:sx n="1" d="1"/>
        <a:sy n="1" d="1"/>
      </p:scale>
      <p:origin x="0" y="0"/>
    </p:cViewPr>
  </p:notesTextViewPr>
  <p:sorterViewPr>
    <p:cViewPr>
      <p:scale>
        <a:sx n="100" d="100"/>
        <a:sy n="100" d="100"/>
      </p:scale>
      <p:origin x="0" y="-37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900DC8-C111-410A-A9FC-26F810564DB6}" type="datetimeFigureOut">
              <a:rPr lang="en-US" smtClean="0"/>
              <a:t>12/7/2018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51CA30-9D79-40D4-9F66-380A8449BA8E}" type="slidenum">
              <a:rPr lang="en-US" smtClean="0"/>
              <a:t>‹#›</a:t>
            </a:fld>
            <a:endParaRPr lang="en-US"/>
          </a:p>
        </p:txBody>
      </p:sp>
    </p:spTree>
    <p:extLst>
      <p:ext uri="{BB962C8B-B14F-4D97-AF65-F5344CB8AC3E}">
        <p14:creationId xmlns:p14="http://schemas.microsoft.com/office/powerpoint/2010/main" val="4022305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BB494BD-3347-4C3C-9D15-2CE7C737CA98}" type="slidenum">
              <a:rPr lang="en-PH" smtClean="0"/>
              <a:t>2</a:t>
            </a:fld>
            <a:endParaRPr lang="en-PH"/>
          </a:p>
        </p:txBody>
      </p:sp>
    </p:spTree>
    <p:extLst>
      <p:ext uri="{BB962C8B-B14F-4D97-AF65-F5344CB8AC3E}">
        <p14:creationId xmlns:p14="http://schemas.microsoft.com/office/powerpoint/2010/main" val="2207143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82AABC-CAEC-45EE-B72F-697B15A75F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2DBC7B60-AB2C-465D-AFA5-9511DAA7A1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4051FD04-9F80-455A-AE2B-BAFECA611F68}"/>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D7407636-007B-4842-BEC4-86B21DD0F2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4A1D970-5FA6-4024-8148-DF4CDE6F9D1B}"/>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198846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CB39E7-65C7-466E-BFC8-6D895D1DB8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D884A6B4-15DA-4ED4-A2C8-D214D1D961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FF04B7F-EE31-4CF2-A530-8AD48B6EB102}"/>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3008F57D-805B-4723-9999-7B33CFB1E5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DAC49A5-5830-4ADF-AC44-AAD71075F482}"/>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548250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E23E40-CBA9-4CA5-B9A5-9000E68114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DD4E08F3-A341-43B3-9C3E-099D7F7DFA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548804F4-1986-40B7-ABC1-961C829893F8}"/>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48D2BCA7-5BE4-41AF-BA4B-9B3A42212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B88DD9B-688B-47AF-A43C-B7BEB3B246D1}"/>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3477498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6117FB-DACC-4EF1-8C2B-51AD987E6C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4E2BBC62-0BC3-421C-B984-DBD8E9ECA63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A242E044-585F-4DE3-B180-AE90F99D799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CBA3CCF-1756-446D-AB0B-5AD73F059275}"/>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6" name="Footer Placeholder 5">
            <a:extLst>
              <a:ext uri="{FF2B5EF4-FFF2-40B4-BE49-F238E27FC236}">
                <a16:creationId xmlns="" xmlns:a16="http://schemas.microsoft.com/office/drawing/2014/main" id="{2C735406-AE48-4103-A38D-6CDD9D1D19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09EC88E-0DF5-45FE-85E3-98A7FF5DFCF2}"/>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227850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B53438-BAE0-4EB7-962E-01B5536D95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081C7159-C520-4061-A2C8-5BACA331B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EE41B286-8F5D-41EA-BFF9-5F3F52F99F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24D9D7F0-7485-4FCE-8938-E62BEEA8DB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6B3C878D-B6E9-4E6E-A534-06E8BDE2F71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FCD0F662-03A5-4833-A71B-738F731D38C5}"/>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8" name="Footer Placeholder 7">
            <a:extLst>
              <a:ext uri="{FF2B5EF4-FFF2-40B4-BE49-F238E27FC236}">
                <a16:creationId xmlns="" xmlns:a16="http://schemas.microsoft.com/office/drawing/2014/main" id="{02489070-606F-430E-B45D-C9E5698A7E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BEAA2C35-FDCE-403C-BCB1-63A3948572BA}"/>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3823638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724078-1F37-4B15-8DE9-33A4E929AB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97555C9B-6929-4756-AF59-67EE47B802C1}"/>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4" name="Footer Placeholder 3">
            <a:extLst>
              <a:ext uri="{FF2B5EF4-FFF2-40B4-BE49-F238E27FC236}">
                <a16:creationId xmlns="" xmlns:a16="http://schemas.microsoft.com/office/drawing/2014/main" id="{CC179D2A-67CD-4A85-B672-FAF0064D9C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63AB5D75-9F58-434A-8332-D04BC3B3B9FB}"/>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3317097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FCD24CC-FC56-4EFC-94A2-CD64CC94B3DE}"/>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3" name="Footer Placeholder 2">
            <a:extLst>
              <a:ext uri="{FF2B5EF4-FFF2-40B4-BE49-F238E27FC236}">
                <a16:creationId xmlns="" xmlns:a16="http://schemas.microsoft.com/office/drawing/2014/main" id="{E79E3E26-5A4E-45B0-96C3-B12EF7542F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BBDC32C0-0334-4315-9379-C292C6403C34}"/>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1449430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9A93A3-7BCA-40E4-9BF2-9A048F6E0A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757B770C-A944-4550-8940-1E087C2335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77D428-5FBC-49D2-881E-E042E0CB6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E4E776D7-EB07-4919-921D-9751272D0D66}"/>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6" name="Footer Placeholder 5">
            <a:extLst>
              <a:ext uri="{FF2B5EF4-FFF2-40B4-BE49-F238E27FC236}">
                <a16:creationId xmlns="" xmlns:a16="http://schemas.microsoft.com/office/drawing/2014/main" id="{E08C8427-E945-43B9-BB7B-D8884B30F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014BADBF-DE7E-49C8-AD44-EE60325B65DE}"/>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2192691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32BDCA-0A96-458F-B606-CED1697B7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D4D694A9-9CAA-443D-8C23-CCB890F425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9F7F4318-D8BB-4A99-97FF-BCF576A39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CEFC8592-B0A8-4C44-A1F7-E46E1092C125}"/>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6" name="Footer Placeholder 5">
            <a:extLst>
              <a:ext uri="{FF2B5EF4-FFF2-40B4-BE49-F238E27FC236}">
                <a16:creationId xmlns="" xmlns:a16="http://schemas.microsoft.com/office/drawing/2014/main" id="{2847C21D-1D30-44D3-9504-FABD32F5CE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36FAB78-4887-4587-B29F-4B30B5E545F4}"/>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1498728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551D50-8F34-442A-9514-9B6928B799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72010923-0E63-4290-914C-2E81012FDE4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A141EF9-DE48-4B0A-B51F-CF13197937A2}"/>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8ED1341E-680D-4E96-AF25-E401D76C5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561BC1C-7C43-4613-A0C7-B53425395208}"/>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1200254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6184A0B-30D5-4CB4-8D7D-D73603E064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C12147EF-0C0A-43E5-83D3-293E12E53BC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68581981-1B71-4336-B4CC-B4AD784FF025}"/>
              </a:ext>
            </a:extLst>
          </p:cNvPr>
          <p:cNvSpPr>
            <a:spLocks noGrp="1"/>
          </p:cNvSpPr>
          <p:nvPr>
            <p:ph type="dt" sz="half" idx="10"/>
          </p:nvPr>
        </p:nvSpPr>
        <p:spPr/>
        <p:txBody>
          <a:body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D82CCE6D-1D4A-42B6-A34E-51D7CBA6E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CFF4EAB-F32A-4669-8445-CCC2C8F24B12}"/>
              </a:ext>
            </a:extLst>
          </p:cNvPr>
          <p:cNvSpPr>
            <a:spLocks noGrp="1"/>
          </p:cNvSpPr>
          <p:nvPr>
            <p:ph type="sldNum" sz="quarter" idx="12"/>
          </p:nvPr>
        </p:nvSpPr>
        <p:spPr/>
        <p:txBody>
          <a:bodyPr/>
          <a:lstStyle/>
          <a:p>
            <a:fld id="{1B05C149-0FA0-4518-9882-608C6289492C}" type="slidenum">
              <a:rPr lang="en-US" smtClean="0"/>
              <a:t>‹#›</a:t>
            </a:fld>
            <a:endParaRPr lang="en-US"/>
          </a:p>
        </p:txBody>
      </p:sp>
    </p:spTree>
    <p:extLst>
      <p:ext uri="{BB962C8B-B14F-4D97-AF65-F5344CB8AC3E}">
        <p14:creationId xmlns:p14="http://schemas.microsoft.com/office/powerpoint/2010/main" val="4197142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xy" algn="br"/>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0F38F78-214C-4F74-BC65-D4184A3B31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A1A2A10-8A96-4351-9C4A-9585485358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6E23BC3-E77C-4016-9D04-3A2C4E5848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86324A-98A8-4B3A-8B2D-2EA8A235DB43}" type="datetimeFigureOut">
              <a:rPr lang="en-US" smtClean="0"/>
              <a:t>12/7/2018</a:t>
            </a:fld>
            <a:endParaRPr lang="en-US"/>
          </a:p>
        </p:txBody>
      </p:sp>
      <p:sp>
        <p:nvSpPr>
          <p:cNvPr id="5" name="Footer Placeholder 4">
            <a:extLst>
              <a:ext uri="{FF2B5EF4-FFF2-40B4-BE49-F238E27FC236}">
                <a16:creationId xmlns="" xmlns:a16="http://schemas.microsoft.com/office/drawing/2014/main" id="{F3A0A2A5-3786-41AD-9AD8-AFB872C9C8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E254ED00-BA9C-4B9A-8C8A-0F76C25974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05C149-0FA0-4518-9882-608C6289492C}" type="slidenum">
              <a:rPr lang="en-US" smtClean="0"/>
              <a:t>‹#›</a:t>
            </a:fld>
            <a:endParaRPr lang="en-US"/>
          </a:p>
        </p:txBody>
      </p:sp>
    </p:spTree>
    <p:extLst>
      <p:ext uri="{BB962C8B-B14F-4D97-AF65-F5344CB8AC3E}">
        <p14:creationId xmlns:p14="http://schemas.microsoft.com/office/powerpoint/2010/main" val="1338154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F4A509-0C68-43D5-B6FE-27D8FAFF4AEF}"/>
              </a:ext>
            </a:extLst>
          </p:cNvPr>
          <p:cNvSpPr>
            <a:spLocks noGrp="1"/>
          </p:cNvSpPr>
          <p:nvPr>
            <p:ph type="ctrTitle"/>
          </p:nvPr>
        </p:nvSpPr>
        <p:spPr>
          <a:xfrm>
            <a:off x="481009" y="1911421"/>
            <a:ext cx="11229975" cy="1015663"/>
          </a:xfrm>
        </p:spPr>
        <p:txBody>
          <a:bodyPr>
            <a:noAutofit/>
          </a:bodyPr>
          <a:lstStyle/>
          <a:p>
            <a:r>
              <a:rPr lang="en-US" sz="5400" dirty="0"/>
              <a:t>Parabolic Framework and Trading Hacks</a:t>
            </a:r>
          </a:p>
        </p:txBody>
      </p:sp>
      <p:sp>
        <p:nvSpPr>
          <p:cNvPr id="3" name="Subtitle 2">
            <a:extLst>
              <a:ext uri="{FF2B5EF4-FFF2-40B4-BE49-F238E27FC236}">
                <a16:creationId xmlns="" xmlns:a16="http://schemas.microsoft.com/office/drawing/2014/main" id="{C9B6193B-B125-461F-9B44-4EE6574CFCC6}"/>
              </a:ext>
            </a:extLst>
          </p:cNvPr>
          <p:cNvSpPr>
            <a:spLocks noGrp="1"/>
          </p:cNvSpPr>
          <p:nvPr>
            <p:ph type="subTitle" idx="1"/>
          </p:nvPr>
        </p:nvSpPr>
        <p:spPr>
          <a:xfrm>
            <a:off x="1523997" y="3277682"/>
            <a:ext cx="9144000" cy="1805493"/>
          </a:xfrm>
        </p:spPr>
        <p:txBody>
          <a:bodyPr>
            <a:normAutofit/>
          </a:bodyPr>
          <a:lstStyle/>
          <a:p>
            <a:r>
              <a:rPr lang="en-US" sz="3200" b="1" dirty="0"/>
              <a:t>Hernan Segovia</a:t>
            </a:r>
          </a:p>
          <a:p>
            <a:r>
              <a:rPr lang="en-US" sz="3200" dirty="0"/>
              <a:t>BOH Society</a:t>
            </a:r>
          </a:p>
          <a:p>
            <a:r>
              <a:rPr lang="en-US" sz="3200" dirty="0">
                <a:solidFill>
                  <a:srgbClr val="0000FF"/>
                </a:solidFill>
              </a:rPr>
              <a:t>www.bohsociety.com</a:t>
            </a:r>
          </a:p>
        </p:txBody>
      </p:sp>
      <p:sp>
        <p:nvSpPr>
          <p:cNvPr id="4" name="TextBox 3">
            <a:extLst>
              <a:ext uri="{FF2B5EF4-FFF2-40B4-BE49-F238E27FC236}">
                <a16:creationId xmlns="" xmlns:a16="http://schemas.microsoft.com/office/drawing/2014/main" id="{A033FDF5-E4B1-4FEC-99AA-2F9C651F5EC3}"/>
              </a:ext>
            </a:extLst>
          </p:cNvPr>
          <p:cNvSpPr txBox="1"/>
          <p:nvPr/>
        </p:nvSpPr>
        <p:spPr>
          <a:xfrm>
            <a:off x="2400300" y="5497273"/>
            <a:ext cx="7391400" cy="923330"/>
          </a:xfrm>
          <a:prstGeom prst="rect">
            <a:avLst/>
          </a:prstGeom>
          <a:noFill/>
        </p:spPr>
        <p:txBody>
          <a:bodyPr wrap="square" rtlCol="0">
            <a:spAutoFit/>
          </a:bodyPr>
          <a:lstStyle/>
          <a:p>
            <a:pPr algn="ctr"/>
            <a:r>
              <a:rPr lang="en-US" dirty="0">
                <a:solidFill>
                  <a:schemeClr val="tx1">
                    <a:lumMod val="75000"/>
                    <a:lumOff val="25000"/>
                  </a:schemeClr>
                </a:solidFill>
              </a:rPr>
              <a:t>Investagrams Traders’ Summit 2018</a:t>
            </a:r>
          </a:p>
          <a:p>
            <a:pPr algn="ctr"/>
            <a:r>
              <a:rPr lang="en-US" dirty="0">
                <a:solidFill>
                  <a:schemeClr val="tx1">
                    <a:lumMod val="75000"/>
                    <a:lumOff val="25000"/>
                  </a:schemeClr>
                </a:solidFill>
              </a:rPr>
              <a:t>08 December 2018</a:t>
            </a:r>
          </a:p>
          <a:p>
            <a:pPr algn="ctr"/>
            <a:r>
              <a:rPr lang="en-US" dirty="0">
                <a:solidFill>
                  <a:schemeClr val="tx1">
                    <a:lumMod val="75000"/>
                    <a:lumOff val="25000"/>
                  </a:schemeClr>
                </a:solidFill>
              </a:rPr>
              <a:t>Samsung Hall, SM Aura Premier</a:t>
            </a:r>
          </a:p>
        </p:txBody>
      </p:sp>
    </p:spTree>
    <p:extLst>
      <p:ext uri="{BB962C8B-B14F-4D97-AF65-F5344CB8AC3E}">
        <p14:creationId xmlns:p14="http://schemas.microsoft.com/office/powerpoint/2010/main" val="1029726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4389"/>
          </a:xfrm>
        </p:spPr>
        <p:txBody>
          <a:bodyPr/>
          <a:lstStyle/>
          <a:p>
            <a:r>
              <a:rPr lang="en-PH" dirty="0"/>
              <a:t>DISCLAIMER</a:t>
            </a:r>
          </a:p>
        </p:txBody>
      </p:sp>
      <p:sp>
        <p:nvSpPr>
          <p:cNvPr id="4" name="Slide Number Placeholder 3"/>
          <p:cNvSpPr>
            <a:spLocks noGrp="1"/>
          </p:cNvSpPr>
          <p:nvPr>
            <p:ph type="sldNum" sz="quarter" idx="12"/>
          </p:nvPr>
        </p:nvSpPr>
        <p:spPr/>
        <p:txBody>
          <a:bodyPr/>
          <a:lstStyle/>
          <a:p>
            <a:fld id="{3EF1C6AC-1F40-47C7-8614-69B1F62646D1}" type="slidenum">
              <a:rPr lang="en-PH" smtClean="0"/>
              <a:t>2</a:t>
            </a:fld>
            <a:endParaRPr lang="en-PH"/>
          </a:p>
        </p:txBody>
      </p:sp>
      <p:sp>
        <p:nvSpPr>
          <p:cNvPr id="6" name="Content Placeholder 2"/>
          <p:cNvSpPr>
            <a:spLocks noGrp="1"/>
          </p:cNvSpPr>
          <p:nvPr>
            <p:ph idx="1"/>
          </p:nvPr>
        </p:nvSpPr>
        <p:spPr>
          <a:xfrm>
            <a:off x="838201" y="1414462"/>
            <a:ext cx="10515599" cy="4706939"/>
          </a:xfrm>
        </p:spPr>
        <p:txBody>
          <a:bodyPr>
            <a:noAutofit/>
          </a:bodyPr>
          <a:lstStyle/>
          <a:p>
            <a:pPr marL="0" indent="0">
              <a:buNone/>
            </a:pPr>
            <a:r>
              <a:rPr lang="en-PH" sz="2400" dirty="0">
                <a:latin typeface="Arial Narrow" panose="020B0606020202030204" pitchFamily="34" charset="0"/>
              </a:rPr>
              <a:t>I make no representation that the information contained herein or any of the analytical tools or reports referenced herein are accurate, reliable, complete, or appropriate for use by all investors in all locations. </a:t>
            </a:r>
          </a:p>
          <a:p>
            <a:pPr marL="0" indent="0">
              <a:buNone/>
            </a:pPr>
            <a:endParaRPr lang="en-PH" sz="2400" dirty="0">
              <a:latin typeface="Arial Narrow" panose="020B0606020202030204" pitchFamily="34" charset="0"/>
            </a:endParaRPr>
          </a:p>
          <a:p>
            <a:pPr marL="0" indent="0">
              <a:buNone/>
            </a:pPr>
            <a:r>
              <a:rPr lang="en-PH" sz="2400" dirty="0">
                <a:latin typeface="Arial Narrow" panose="020B0606020202030204" pitchFamily="34" charset="0"/>
              </a:rPr>
              <a:t>I am not using this document or this presentation to provide investment or other advice to you or any other party. The materials and information contained herein are intended for informational and educational purposes only and should not be regarded as recommendation. Performance after attending this lecture is not guaranteed.</a:t>
            </a:r>
          </a:p>
          <a:p>
            <a:pPr marL="0" indent="0">
              <a:buNone/>
            </a:pPr>
            <a:endParaRPr lang="en-PH" sz="2400" dirty="0">
              <a:latin typeface="Arial Narrow" panose="020B0606020202030204" pitchFamily="34" charset="0"/>
            </a:endParaRPr>
          </a:p>
          <a:p>
            <a:pPr marL="0" indent="0">
              <a:buNone/>
            </a:pPr>
            <a:r>
              <a:rPr lang="en-PH" sz="2400" dirty="0">
                <a:latin typeface="Arial Narrow" panose="020B0606020202030204" pitchFamily="34" charset="0"/>
              </a:rPr>
              <a:t>I shall have no liability in any way to you or any other entity for any loss or damage, direct or indirect arising from the use of the information contained herein or any of the analytic tools referenced herein.</a:t>
            </a:r>
          </a:p>
        </p:txBody>
      </p:sp>
    </p:spTree>
    <p:extLst>
      <p:ext uri="{BB962C8B-B14F-4D97-AF65-F5344CB8AC3E}">
        <p14:creationId xmlns:p14="http://schemas.microsoft.com/office/powerpoint/2010/main" val="4061723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8E26C75-141F-4A3B-9F49-D2A6D233B2AA}"/>
              </a:ext>
            </a:extLst>
          </p:cNvPr>
          <p:cNvSpPr>
            <a:spLocks noGrp="1"/>
          </p:cNvSpPr>
          <p:nvPr>
            <p:ph idx="1"/>
          </p:nvPr>
        </p:nvSpPr>
        <p:spPr>
          <a:xfrm>
            <a:off x="838200" y="923925"/>
            <a:ext cx="10515600" cy="5253038"/>
          </a:xfrm>
        </p:spPr>
        <p:txBody>
          <a:bodyPr>
            <a:normAutofit/>
          </a:bodyPr>
          <a:lstStyle/>
          <a:p>
            <a:pPr marL="0" indent="0" algn="ctr">
              <a:buNone/>
            </a:pPr>
            <a:endParaRPr lang="en-US" sz="6000" dirty="0"/>
          </a:p>
          <a:p>
            <a:pPr marL="0" indent="0" algn="ctr">
              <a:buNone/>
            </a:pPr>
            <a:endParaRPr lang="en-US" sz="6000" dirty="0"/>
          </a:p>
          <a:p>
            <a:pPr marL="0" indent="0" algn="ctr">
              <a:buNone/>
            </a:pPr>
            <a:r>
              <a:rPr lang="en-US" sz="6000" dirty="0"/>
              <a:t>HELLO, I AM SPYFRAT.</a:t>
            </a:r>
          </a:p>
        </p:txBody>
      </p:sp>
    </p:spTree>
    <p:extLst>
      <p:ext uri="{BB962C8B-B14F-4D97-AF65-F5344CB8AC3E}">
        <p14:creationId xmlns:p14="http://schemas.microsoft.com/office/powerpoint/2010/main" val="2854378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A33C5AD9-07B3-48A9-BD87-774A82B1F2C8}"/>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SPYFRAT’S TRADING SYSTEM</a:t>
            </a:r>
          </a:p>
        </p:txBody>
      </p:sp>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381000" y="819150"/>
            <a:ext cx="10972800" cy="5819775"/>
          </a:xfrm>
        </p:spPr>
        <p:txBody>
          <a:bodyPr>
            <a:normAutofit/>
          </a:bodyPr>
          <a:lstStyle/>
          <a:p>
            <a:pPr marL="0" indent="0">
              <a:buNone/>
            </a:pPr>
            <a:r>
              <a:rPr lang="en-US" b="1" dirty="0"/>
              <a:t>Trading System:</a:t>
            </a:r>
          </a:p>
          <a:p>
            <a:pPr marL="457200" lvl="1" indent="0">
              <a:buNone/>
            </a:pPr>
            <a:r>
              <a:rPr lang="en-US" sz="2800" dirty="0"/>
              <a:t>Bollinger Bands (BBand) = 50-period with 0.20 standard deviations</a:t>
            </a:r>
          </a:p>
          <a:p>
            <a:pPr marL="457200" lvl="1" indent="0">
              <a:buNone/>
            </a:pPr>
            <a:r>
              <a:rPr lang="en-US" sz="2800" dirty="0"/>
              <a:t>Relative Strength Indicator (RSI) = 30-period</a:t>
            </a:r>
          </a:p>
          <a:p>
            <a:pPr marL="0" indent="0">
              <a:buNone/>
            </a:pPr>
            <a:endParaRPr lang="en-US" dirty="0"/>
          </a:p>
          <a:p>
            <a:pPr marL="0" indent="0">
              <a:buNone/>
            </a:pPr>
            <a:r>
              <a:rPr lang="en-US" b="1" dirty="0"/>
              <a:t>Parabolic Framework:</a:t>
            </a:r>
          </a:p>
          <a:p>
            <a:pPr marL="457200" lvl="1" indent="0">
              <a:buNone/>
            </a:pPr>
            <a:r>
              <a:rPr lang="en-US" sz="2800" dirty="0">
                <a:solidFill>
                  <a:srgbClr val="00B050"/>
                </a:solidFill>
              </a:rPr>
              <a:t>Parabolic Theory</a:t>
            </a:r>
          </a:p>
          <a:p>
            <a:pPr marL="457200" lvl="1" indent="0">
              <a:buNone/>
            </a:pPr>
            <a:r>
              <a:rPr lang="en-US" sz="2800" dirty="0">
                <a:solidFill>
                  <a:srgbClr val="C00000"/>
                </a:solidFill>
              </a:rPr>
              <a:t>Parabolic High Risk (PHR)</a:t>
            </a:r>
          </a:p>
          <a:p>
            <a:pPr marL="457200" lvl="1" indent="0">
              <a:buNone/>
            </a:pPr>
            <a:r>
              <a:rPr lang="en-US" sz="2800" dirty="0">
                <a:solidFill>
                  <a:srgbClr val="FF0000"/>
                </a:solidFill>
              </a:rPr>
              <a:t>Extreme Parabolic High Risk (ePHR)</a:t>
            </a:r>
          </a:p>
          <a:p>
            <a:pPr marL="0" indent="0">
              <a:buNone/>
            </a:pPr>
            <a:endParaRPr lang="en-US" dirty="0"/>
          </a:p>
          <a:p>
            <a:pPr marL="0" indent="0">
              <a:buNone/>
            </a:pPr>
            <a:r>
              <a:rPr lang="en-US" b="1" dirty="0"/>
              <a:t>Trading Hacks:</a:t>
            </a:r>
          </a:p>
          <a:p>
            <a:pPr marL="457200" lvl="1" indent="0">
              <a:buNone/>
            </a:pPr>
            <a:r>
              <a:rPr lang="en-US" sz="2800" dirty="0"/>
              <a:t>20 percent rule</a:t>
            </a:r>
          </a:p>
          <a:p>
            <a:pPr marL="457200" lvl="1" indent="0">
              <a:buNone/>
            </a:pPr>
            <a:r>
              <a:rPr lang="en-US" sz="2800" dirty="0"/>
              <a:t>Bebemon trade set-up</a:t>
            </a:r>
          </a:p>
          <a:p>
            <a:pPr marL="457200" lvl="1" indent="0">
              <a:buNone/>
            </a:pPr>
            <a:endParaRPr lang="en-US" sz="2800" dirty="0"/>
          </a:p>
          <a:p>
            <a:pPr marL="457200" lvl="1" indent="0">
              <a:buNone/>
            </a:pPr>
            <a:endParaRPr lang="en-US" sz="2800" dirty="0"/>
          </a:p>
          <a:p>
            <a:pPr marL="0" indent="0">
              <a:buNone/>
            </a:pPr>
            <a:endParaRPr lang="en-US" dirty="0"/>
          </a:p>
          <a:p>
            <a:pPr marL="457200" lvl="1" indent="0">
              <a:buNone/>
            </a:pPr>
            <a:endParaRPr lang="en-US" sz="2800" dirty="0"/>
          </a:p>
        </p:txBody>
      </p:sp>
    </p:spTree>
    <p:extLst>
      <p:ext uri="{BB962C8B-B14F-4D97-AF65-F5344CB8AC3E}">
        <p14:creationId xmlns:p14="http://schemas.microsoft.com/office/powerpoint/2010/main" val="998026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17544F-B4CF-44E7-9A98-1EFB555BFC91}"/>
              </a:ext>
            </a:extLst>
          </p:cNvPr>
          <p:cNvSpPr>
            <a:spLocks noGrp="1"/>
          </p:cNvSpPr>
          <p:nvPr>
            <p:ph type="title"/>
          </p:nvPr>
        </p:nvSpPr>
        <p:spPr/>
        <p:txBody>
          <a:bodyPr/>
          <a:lstStyle/>
          <a:p>
            <a:r>
              <a:rPr lang="en-US" dirty="0"/>
              <a:t>MY TRADING SYSTEM</a:t>
            </a:r>
          </a:p>
        </p:txBody>
      </p:sp>
    </p:spTree>
    <p:extLst>
      <p:ext uri="{BB962C8B-B14F-4D97-AF65-F5344CB8AC3E}">
        <p14:creationId xmlns:p14="http://schemas.microsoft.com/office/powerpoint/2010/main" val="601700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9DC342A-8220-45F1-9EF6-88EB23A7EFCF}"/>
              </a:ext>
            </a:extLst>
          </p:cNvPr>
          <p:cNvPicPr>
            <a:picLocks noChangeAspect="1"/>
          </p:cNvPicPr>
          <p:nvPr/>
        </p:nvPicPr>
        <p:blipFill rotWithShape="1">
          <a:blip r:embed="rId2"/>
          <a:srcRect t="5455"/>
          <a:stretch/>
        </p:blipFill>
        <p:spPr>
          <a:xfrm>
            <a:off x="1" y="681038"/>
            <a:ext cx="9429750" cy="6176962"/>
          </a:xfrm>
          <a:prstGeom prst="rect">
            <a:avLst/>
          </a:prstGeom>
        </p:spPr>
      </p:pic>
      <p:sp>
        <p:nvSpPr>
          <p:cNvPr id="9" name="Rectangle 8">
            <a:extLst>
              <a:ext uri="{FF2B5EF4-FFF2-40B4-BE49-F238E27FC236}">
                <a16:creationId xmlns="" xmlns:a16="http://schemas.microsoft.com/office/drawing/2014/main" id="{67CE20DE-93FC-467F-BA5E-9DDB9E8E8B6B}"/>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SPYFRAT’S TRADING SYSTEM</a:t>
            </a:r>
          </a:p>
        </p:txBody>
      </p:sp>
      <p:sp>
        <p:nvSpPr>
          <p:cNvPr id="10" name="Rectangle 9">
            <a:extLst>
              <a:ext uri="{FF2B5EF4-FFF2-40B4-BE49-F238E27FC236}">
                <a16:creationId xmlns="" xmlns:a16="http://schemas.microsoft.com/office/drawing/2014/main" id="{DECEF4FE-49C8-4D6B-AC91-B816E3BD1CF4}"/>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1" name="TextBox 10">
            <a:extLst>
              <a:ext uri="{FF2B5EF4-FFF2-40B4-BE49-F238E27FC236}">
                <a16:creationId xmlns="" xmlns:a16="http://schemas.microsoft.com/office/drawing/2014/main" id="{DDE9FD7C-B1A8-40EA-B51D-44A246B6181A}"/>
              </a:ext>
            </a:extLst>
          </p:cNvPr>
          <p:cNvSpPr txBox="1"/>
          <p:nvPr/>
        </p:nvSpPr>
        <p:spPr>
          <a:xfrm>
            <a:off x="9429751" y="752474"/>
            <a:ext cx="2762249" cy="3785652"/>
          </a:xfrm>
          <a:prstGeom prst="rect">
            <a:avLst/>
          </a:prstGeom>
          <a:noFill/>
        </p:spPr>
        <p:txBody>
          <a:bodyPr wrap="square" rtlCol="0">
            <a:spAutoFit/>
          </a:bodyPr>
          <a:lstStyle/>
          <a:p>
            <a:r>
              <a:rPr lang="en-US" sz="2400" b="1" dirty="0"/>
              <a:t>Principal Components:</a:t>
            </a:r>
          </a:p>
          <a:p>
            <a:r>
              <a:rPr lang="en-US" sz="2400" dirty="0">
                <a:solidFill>
                  <a:srgbClr val="0000FF"/>
                </a:solidFill>
              </a:rPr>
              <a:t/>
            </a:r>
            <a:br>
              <a:rPr lang="en-US" sz="2400" dirty="0">
                <a:solidFill>
                  <a:srgbClr val="0000FF"/>
                </a:solidFill>
              </a:rPr>
            </a:br>
            <a:r>
              <a:rPr lang="en-US" sz="2400" b="1" dirty="0">
                <a:solidFill>
                  <a:srgbClr val="0000FF"/>
                </a:solidFill>
              </a:rPr>
              <a:t>Bollinger Bands </a:t>
            </a:r>
          </a:p>
          <a:p>
            <a:r>
              <a:rPr lang="en-US" sz="2400" dirty="0"/>
              <a:t>50-period and </a:t>
            </a:r>
          </a:p>
          <a:p>
            <a:r>
              <a:rPr lang="en-US" sz="2400" dirty="0"/>
              <a:t>0.20 width</a:t>
            </a:r>
          </a:p>
          <a:p>
            <a:endParaRPr lang="en-US" sz="2400" dirty="0"/>
          </a:p>
          <a:p>
            <a:r>
              <a:rPr lang="en-US" sz="2400" dirty="0">
                <a:solidFill>
                  <a:srgbClr val="FF0000"/>
                </a:solidFill>
              </a:rPr>
              <a:t>Relative Strength Indicator</a:t>
            </a:r>
          </a:p>
          <a:p>
            <a:r>
              <a:rPr lang="en-US" sz="2400" dirty="0"/>
              <a:t>30-period</a:t>
            </a:r>
          </a:p>
        </p:txBody>
      </p:sp>
      <p:cxnSp>
        <p:nvCxnSpPr>
          <p:cNvPr id="13" name="Straight Arrow Connector 12">
            <a:extLst>
              <a:ext uri="{FF2B5EF4-FFF2-40B4-BE49-F238E27FC236}">
                <a16:creationId xmlns="" xmlns:a16="http://schemas.microsoft.com/office/drawing/2014/main" id="{B0D615EC-3377-4D6F-A2F7-F3888CCBA994}"/>
              </a:ext>
            </a:extLst>
          </p:cNvPr>
          <p:cNvCxnSpPr/>
          <p:nvPr/>
        </p:nvCxnSpPr>
        <p:spPr>
          <a:xfrm flipH="1">
            <a:off x="4791075" y="1666875"/>
            <a:ext cx="819150" cy="6286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 xmlns:a16="http://schemas.microsoft.com/office/drawing/2014/main" id="{A6CD874F-F4BA-4A6A-A208-460ABC597914}"/>
              </a:ext>
            </a:extLst>
          </p:cNvPr>
          <p:cNvSpPr txBox="1"/>
          <p:nvPr/>
        </p:nvSpPr>
        <p:spPr>
          <a:xfrm>
            <a:off x="5610225" y="1314450"/>
            <a:ext cx="2590800" cy="461665"/>
          </a:xfrm>
          <a:prstGeom prst="rect">
            <a:avLst/>
          </a:prstGeom>
          <a:noFill/>
        </p:spPr>
        <p:txBody>
          <a:bodyPr wrap="square" rtlCol="0">
            <a:spAutoFit/>
          </a:bodyPr>
          <a:lstStyle/>
          <a:p>
            <a:r>
              <a:rPr lang="en-US" sz="2400" b="1" dirty="0"/>
              <a:t>Bbands(50, 0.20)</a:t>
            </a:r>
          </a:p>
        </p:txBody>
      </p:sp>
      <p:cxnSp>
        <p:nvCxnSpPr>
          <p:cNvPr id="16" name="Straight Arrow Connector 15">
            <a:extLst>
              <a:ext uri="{FF2B5EF4-FFF2-40B4-BE49-F238E27FC236}">
                <a16:creationId xmlns="" xmlns:a16="http://schemas.microsoft.com/office/drawing/2014/main" id="{1D8B7FD8-4679-4A4E-A18A-0660DBFD8BED}"/>
              </a:ext>
            </a:extLst>
          </p:cNvPr>
          <p:cNvCxnSpPr/>
          <p:nvPr/>
        </p:nvCxnSpPr>
        <p:spPr>
          <a:xfrm>
            <a:off x="3057525" y="4162425"/>
            <a:ext cx="3181350" cy="1371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 xmlns:a16="http://schemas.microsoft.com/office/drawing/2014/main" id="{F59CBC14-A454-449C-AC0C-A300D999B359}"/>
              </a:ext>
            </a:extLst>
          </p:cNvPr>
          <p:cNvSpPr txBox="1"/>
          <p:nvPr/>
        </p:nvSpPr>
        <p:spPr>
          <a:xfrm>
            <a:off x="1943100" y="3931591"/>
            <a:ext cx="1114425" cy="461665"/>
          </a:xfrm>
          <a:prstGeom prst="rect">
            <a:avLst/>
          </a:prstGeom>
          <a:solidFill>
            <a:schemeClr val="bg1"/>
          </a:solidFill>
        </p:spPr>
        <p:txBody>
          <a:bodyPr wrap="square" rtlCol="0">
            <a:spAutoFit/>
          </a:bodyPr>
          <a:lstStyle/>
          <a:p>
            <a:r>
              <a:rPr lang="en-US" sz="2400" b="1" dirty="0"/>
              <a:t>RSI(30)</a:t>
            </a:r>
          </a:p>
        </p:txBody>
      </p:sp>
    </p:spTree>
    <p:extLst>
      <p:ext uri="{BB962C8B-B14F-4D97-AF65-F5344CB8AC3E}">
        <p14:creationId xmlns:p14="http://schemas.microsoft.com/office/powerpoint/2010/main" val="2749078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504824" y="838200"/>
            <a:ext cx="11423939" cy="5654673"/>
          </a:xfrm>
        </p:spPr>
        <p:txBody>
          <a:bodyPr>
            <a:normAutofit fontScale="77500" lnSpcReduction="20000"/>
          </a:bodyPr>
          <a:lstStyle/>
          <a:p>
            <a:pPr>
              <a:buFont typeface="Wingdings" panose="05000000000000000000" pitchFamily="2" charset="2"/>
              <a:buChar char="§"/>
            </a:pPr>
            <a:r>
              <a:rPr lang="en-US" sz="3000" dirty="0"/>
              <a:t>John Bollinger’s Bollinger Band uses Bband(20, 2), which he uses to measure </a:t>
            </a:r>
            <a:r>
              <a:rPr lang="en-US" sz="3000" i="1" dirty="0">
                <a:solidFill>
                  <a:srgbClr val="FF0000"/>
                </a:solidFill>
              </a:rPr>
              <a:t>price volatility</a:t>
            </a:r>
            <a:r>
              <a:rPr lang="en-US" sz="3000" dirty="0"/>
              <a:t>. </a:t>
            </a:r>
          </a:p>
          <a:p>
            <a:pPr>
              <a:buFont typeface="Wingdings" panose="05000000000000000000" pitchFamily="2" charset="2"/>
              <a:buChar char="§"/>
            </a:pPr>
            <a:endParaRPr lang="en-US" sz="3000" dirty="0"/>
          </a:p>
          <a:p>
            <a:pPr>
              <a:buFont typeface="Wingdings" panose="05000000000000000000" pitchFamily="2" charset="2"/>
              <a:buChar char="§"/>
            </a:pPr>
            <a:r>
              <a:rPr lang="en-US" sz="3000" dirty="0"/>
              <a:t>I use a </a:t>
            </a:r>
            <a:r>
              <a:rPr lang="en-US" sz="3000" dirty="0">
                <a:solidFill>
                  <a:srgbClr val="0000FF"/>
                </a:solidFill>
              </a:rPr>
              <a:t>custom Bband(50, 0.20)</a:t>
            </a:r>
            <a:r>
              <a:rPr lang="en-US" sz="3000" dirty="0"/>
              <a:t> to enclose the 50-day simple moving average inside an envelope to measure </a:t>
            </a:r>
            <a:r>
              <a:rPr lang="en-US" sz="3000" i="1" dirty="0">
                <a:solidFill>
                  <a:srgbClr val="0000FF"/>
                </a:solidFill>
              </a:rPr>
              <a:t>trend volatility</a:t>
            </a:r>
            <a:r>
              <a:rPr lang="en-US" sz="3000" dirty="0"/>
              <a:t>. </a:t>
            </a:r>
          </a:p>
          <a:p>
            <a:pPr>
              <a:buFont typeface="Wingdings" panose="05000000000000000000" pitchFamily="2" charset="2"/>
              <a:buChar char="§"/>
            </a:pPr>
            <a:endParaRPr lang="en-US" sz="3000" dirty="0"/>
          </a:p>
          <a:p>
            <a:pPr>
              <a:buFont typeface="Wingdings" panose="05000000000000000000" pitchFamily="2" charset="2"/>
              <a:buChar char="§"/>
            </a:pPr>
            <a:r>
              <a:rPr lang="en-US" sz="3000" dirty="0"/>
              <a:t>My custom Bband is like the Keltner channel but is more dynamic since it can adjust quickly to changes in the trend. In a sense, it’s like the cloud component of the Ichimoku system without the messiness.</a:t>
            </a:r>
          </a:p>
          <a:p>
            <a:pPr>
              <a:buFont typeface="Wingdings" panose="05000000000000000000" pitchFamily="2" charset="2"/>
              <a:buChar char="§"/>
            </a:pPr>
            <a:endParaRPr lang="en-US" sz="3000" dirty="0"/>
          </a:p>
          <a:p>
            <a:pPr>
              <a:buFont typeface="Wingdings" panose="05000000000000000000" pitchFamily="2" charset="2"/>
              <a:buChar char="§"/>
            </a:pPr>
            <a:r>
              <a:rPr lang="en-US" sz="3000" dirty="0"/>
              <a:t>I particularly like it when the Bband </a:t>
            </a:r>
            <a:r>
              <a:rPr lang="en-US" sz="3000" i="1" dirty="0">
                <a:solidFill>
                  <a:srgbClr val="0000FF"/>
                </a:solidFill>
              </a:rPr>
              <a:t>contracts</a:t>
            </a:r>
            <a:r>
              <a:rPr lang="en-US" sz="3000" dirty="0"/>
              <a:t> and becomes “</a:t>
            </a:r>
            <a:r>
              <a:rPr lang="en-US" sz="3000" i="1" dirty="0">
                <a:solidFill>
                  <a:srgbClr val="FF0000"/>
                </a:solidFill>
              </a:rPr>
              <a:t>slimmer</a:t>
            </a:r>
            <a:r>
              <a:rPr lang="en-US" sz="3000" dirty="0"/>
              <a:t>” as it often signals an area where a big move can occur.  This info cannot be captured by a standalone 50-period simple moving average.</a:t>
            </a:r>
          </a:p>
          <a:p>
            <a:pPr>
              <a:buFont typeface="Wingdings" panose="05000000000000000000" pitchFamily="2" charset="2"/>
              <a:buChar char="§"/>
            </a:pPr>
            <a:endParaRPr lang="en-US" sz="3000" dirty="0"/>
          </a:p>
          <a:p>
            <a:pPr>
              <a:buFont typeface="Wingdings" panose="05000000000000000000" pitchFamily="2" charset="2"/>
              <a:buChar char="§"/>
            </a:pPr>
            <a:r>
              <a:rPr lang="en-US" sz="3000" dirty="0"/>
              <a:t>This system generates </a:t>
            </a:r>
            <a:r>
              <a:rPr lang="en-US" sz="3000" dirty="0">
                <a:solidFill>
                  <a:srgbClr val="00B050"/>
                </a:solidFill>
              </a:rPr>
              <a:t>buy </a:t>
            </a:r>
            <a:r>
              <a:rPr lang="en-US" sz="3000" dirty="0"/>
              <a:t>and </a:t>
            </a:r>
            <a:r>
              <a:rPr lang="en-US" sz="3000" dirty="0">
                <a:solidFill>
                  <a:srgbClr val="FF0000"/>
                </a:solidFill>
              </a:rPr>
              <a:t>sell </a:t>
            </a:r>
            <a:r>
              <a:rPr lang="en-US" sz="3000" dirty="0"/>
              <a:t>crossover signals between price and the custom Bband.  The Bband can also be used to define dynamic support and resistance across different time frames.</a:t>
            </a:r>
          </a:p>
          <a:p>
            <a:pPr marL="0" indent="0">
              <a:buNone/>
            </a:pPr>
            <a:r>
              <a:rPr lang="en-US" sz="3000" dirty="0"/>
              <a:t> </a:t>
            </a:r>
          </a:p>
          <a:p>
            <a:pPr>
              <a:buFont typeface="Wingdings" panose="05000000000000000000" pitchFamily="2" charset="2"/>
              <a:buChar char="§"/>
            </a:pPr>
            <a:endParaRPr lang="en-US" sz="3000" dirty="0"/>
          </a:p>
          <a:p>
            <a:pPr>
              <a:buFont typeface="Wingdings" panose="05000000000000000000" pitchFamily="2" charset="2"/>
              <a:buChar char="§"/>
            </a:pPr>
            <a:endParaRPr lang="en-US" sz="3000" dirty="0"/>
          </a:p>
          <a:p>
            <a:pPr>
              <a:buFont typeface="Wingdings" panose="05000000000000000000" pitchFamily="2" charset="2"/>
              <a:buChar char="§"/>
            </a:pPr>
            <a:endParaRPr lang="en-US" sz="3000" dirty="0"/>
          </a:p>
          <a:p>
            <a:pPr>
              <a:buFont typeface="Wingdings" panose="05000000000000000000" pitchFamily="2" charset="2"/>
              <a:buChar char="§"/>
            </a:pPr>
            <a:endParaRPr lang="en-US" sz="3000" dirty="0"/>
          </a:p>
          <a:p>
            <a:pPr lvl="1">
              <a:buFont typeface="Wingdings" panose="05000000000000000000" pitchFamily="2" charset="2"/>
              <a:buChar char="§"/>
            </a:pPr>
            <a:endParaRPr lang="en-US" sz="3000" dirty="0"/>
          </a:p>
        </p:txBody>
      </p:sp>
      <p:sp>
        <p:nvSpPr>
          <p:cNvPr id="4" name="Rectangle 3">
            <a:extLst>
              <a:ext uri="{FF2B5EF4-FFF2-40B4-BE49-F238E27FC236}">
                <a16:creationId xmlns="" xmlns:a16="http://schemas.microsoft.com/office/drawing/2014/main" id="{D69DDB77-E88B-41F0-9194-42DE55A16CA7}"/>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WHY USE A CUSTOM BOLLINGER?</a:t>
            </a:r>
          </a:p>
        </p:txBody>
      </p:sp>
    </p:spTree>
    <p:extLst>
      <p:ext uri="{BB962C8B-B14F-4D97-AF65-F5344CB8AC3E}">
        <p14:creationId xmlns:p14="http://schemas.microsoft.com/office/powerpoint/2010/main" val="2395136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69DDB77-E88B-41F0-9194-42DE55A16CA7}"/>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WHY USE A CUSTOM BOLLINGER?</a:t>
            </a:r>
          </a:p>
        </p:txBody>
      </p:sp>
      <p:pic>
        <p:nvPicPr>
          <p:cNvPr id="9" name="Content Placeholder 3">
            <a:extLst>
              <a:ext uri="{FF2B5EF4-FFF2-40B4-BE49-F238E27FC236}">
                <a16:creationId xmlns="" xmlns:a16="http://schemas.microsoft.com/office/drawing/2014/main" id="{53F3FFEC-F030-4AEF-A26F-E3827936036E}"/>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20449" r="33497" b="4493"/>
          <a:stretch/>
        </p:blipFill>
        <p:spPr>
          <a:xfrm>
            <a:off x="-1" y="681037"/>
            <a:ext cx="12192001" cy="6176963"/>
          </a:xfrm>
        </p:spPr>
      </p:pic>
      <p:sp>
        <p:nvSpPr>
          <p:cNvPr id="11" name="TextBox 10">
            <a:extLst>
              <a:ext uri="{FF2B5EF4-FFF2-40B4-BE49-F238E27FC236}">
                <a16:creationId xmlns="" xmlns:a16="http://schemas.microsoft.com/office/drawing/2014/main" id="{F6830C08-F263-4DA8-B256-03B4B72C9CCB}"/>
              </a:ext>
            </a:extLst>
          </p:cNvPr>
          <p:cNvSpPr txBox="1"/>
          <p:nvPr/>
        </p:nvSpPr>
        <p:spPr>
          <a:xfrm>
            <a:off x="2286000" y="1899591"/>
            <a:ext cx="2755900" cy="461665"/>
          </a:xfrm>
          <a:prstGeom prst="rect">
            <a:avLst/>
          </a:prstGeom>
          <a:solidFill>
            <a:schemeClr val="bg1"/>
          </a:solidFill>
        </p:spPr>
        <p:txBody>
          <a:bodyPr wrap="square" rtlCol="0">
            <a:spAutoFit/>
          </a:bodyPr>
          <a:lstStyle/>
          <a:p>
            <a:r>
              <a:rPr lang="en-US" sz="2400" b="1" dirty="0"/>
              <a:t>BBAND(50, 0.20)</a:t>
            </a:r>
          </a:p>
        </p:txBody>
      </p:sp>
      <p:sp>
        <p:nvSpPr>
          <p:cNvPr id="12" name="TextBox 11">
            <a:extLst>
              <a:ext uri="{FF2B5EF4-FFF2-40B4-BE49-F238E27FC236}">
                <a16:creationId xmlns="" xmlns:a16="http://schemas.microsoft.com/office/drawing/2014/main" id="{CCF0AB6C-E027-44F2-8539-A1A54A9DE44C}"/>
              </a:ext>
            </a:extLst>
          </p:cNvPr>
          <p:cNvSpPr txBox="1"/>
          <p:nvPr/>
        </p:nvSpPr>
        <p:spPr>
          <a:xfrm>
            <a:off x="8343900" y="1899591"/>
            <a:ext cx="2946400" cy="461665"/>
          </a:xfrm>
          <a:prstGeom prst="rect">
            <a:avLst/>
          </a:prstGeom>
          <a:solidFill>
            <a:schemeClr val="bg1"/>
          </a:solidFill>
        </p:spPr>
        <p:txBody>
          <a:bodyPr wrap="square" rtlCol="0">
            <a:spAutoFit/>
          </a:bodyPr>
          <a:lstStyle/>
          <a:p>
            <a:r>
              <a:rPr lang="en-US" sz="2400" b="1" dirty="0"/>
              <a:t>KELTNER(50,0.20)</a:t>
            </a:r>
          </a:p>
        </p:txBody>
      </p:sp>
    </p:spTree>
    <p:extLst>
      <p:ext uri="{BB962C8B-B14F-4D97-AF65-F5344CB8AC3E}">
        <p14:creationId xmlns:p14="http://schemas.microsoft.com/office/powerpoint/2010/main" val="3529305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69DDB77-E88B-41F0-9194-42DE55A16CA7}"/>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WHY USE A CUSTOM BOLLINGER?</a:t>
            </a:r>
          </a:p>
        </p:txBody>
      </p:sp>
      <p:sp>
        <p:nvSpPr>
          <p:cNvPr id="11" name="TextBox 10">
            <a:extLst>
              <a:ext uri="{FF2B5EF4-FFF2-40B4-BE49-F238E27FC236}">
                <a16:creationId xmlns="" xmlns:a16="http://schemas.microsoft.com/office/drawing/2014/main" id="{F6830C08-F263-4DA8-B256-03B4B72C9CCB}"/>
              </a:ext>
            </a:extLst>
          </p:cNvPr>
          <p:cNvSpPr txBox="1"/>
          <p:nvPr/>
        </p:nvSpPr>
        <p:spPr>
          <a:xfrm>
            <a:off x="2286000" y="1899591"/>
            <a:ext cx="2755900" cy="461665"/>
          </a:xfrm>
          <a:prstGeom prst="rect">
            <a:avLst/>
          </a:prstGeom>
          <a:solidFill>
            <a:schemeClr val="bg1"/>
          </a:solidFill>
        </p:spPr>
        <p:txBody>
          <a:bodyPr wrap="square" rtlCol="0">
            <a:spAutoFit/>
          </a:bodyPr>
          <a:lstStyle/>
          <a:p>
            <a:r>
              <a:rPr lang="en-US" sz="2400" b="1" dirty="0"/>
              <a:t>BBAND(50, 0.20)</a:t>
            </a:r>
          </a:p>
        </p:txBody>
      </p:sp>
      <p:sp>
        <p:nvSpPr>
          <p:cNvPr id="12" name="TextBox 11">
            <a:extLst>
              <a:ext uri="{FF2B5EF4-FFF2-40B4-BE49-F238E27FC236}">
                <a16:creationId xmlns="" xmlns:a16="http://schemas.microsoft.com/office/drawing/2014/main" id="{CCF0AB6C-E027-44F2-8539-A1A54A9DE44C}"/>
              </a:ext>
            </a:extLst>
          </p:cNvPr>
          <p:cNvSpPr txBox="1"/>
          <p:nvPr/>
        </p:nvSpPr>
        <p:spPr>
          <a:xfrm>
            <a:off x="8343900" y="1899591"/>
            <a:ext cx="2946400" cy="461665"/>
          </a:xfrm>
          <a:prstGeom prst="rect">
            <a:avLst/>
          </a:prstGeom>
          <a:solidFill>
            <a:schemeClr val="bg1"/>
          </a:solidFill>
        </p:spPr>
        <p:txBody>
          <a:bodyPr wrap="square" rtlCol="0">
            <a:spAutoFit/>
          </a:bodyPr>
          <a:lstStyle/>
          <a:p>
            <a:r>
              <a:rPr lang="en-US" sz="2400" b="1" dirty="0"/>
              <a:t>KELTNER(50,0.20)</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50" y="813858"/>
            <a:ext cx="10938362" cy="5569850"/>
          </a:xfrm>
        </p:spPr>
      </p:pic>
    </p:spTree>
    <p:extLst>
      <p:ext uri="{BB962C8B-B14F-4D97-AF65-F5344CB8AC3E}">
        <p14:creationId xmlns:p14="http://schemas.microsoft.com/office/powerpoint/2010/main" val="69695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1EE78962-FCA1-4A0D-9C2C-060278C3FA92}"/>
              </a:ext>
            </a:extLst>
          </p:cNvPr>
          <p:cNvPicPr>
            <a:picLocks noChangeAspect="1"/>
          </p:cNvPicPr>
          <p:nvPr/>
        </p:nvPicPr>
        <p:blipFill rotWithShape="1">
          <a:blip r:embed="rId2"/>
          <a:srcRect t="5204"/>
          <a:stretch/>
        </p:blipFill>
        <p:spPr>
          <a:xfrm>
            <a:off x="0" y="681036"/>
            <a:ext cx="9429751" cy="6100182"/>
          </a:xfrm>
          <a:prstGeom prst="rect">
            <a:avLst/>
          </a:prstGeom>
        </p:spPr>
      </p:pic>
      <p:sp>
        <p:nvSpPr>
          <p:cNvPr id="11" name="Oval 10">
            <a:extLst>
              <a:ext uri="{FF2B5EF4-FFF2-40B4-BE49-F238E27FC236}">
                <a16:creationId xmlns="" xmlns:a16="http://schemas.microsoft.com/office/drawing/2014/main" id="{2801FB1B-9040-4169-BBD0-8B881D125279}"/>
              </a:ext>
            </a:extLst>
          </p:cNvPr>
          <p:cNvSpPr/>
          <p:nvPr/>
        </p:nvSpPr>
        <p:spPr>
          <a:xfrm>
            <a:off x="5570220" y="3972758"/>
            <a:ext cx="220980" cy="19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 xmlns:a16="http://schemas.microsoft.com/office/drawing/2014/main" id="{0E354486-FCC0-4781-8899-9002D42837CD}"/>
              </a:ext>
            </a:extLst>
          </p:cNvPr>
          <p:cNvSpPr/>
          <p:nvPr/>
        </p:nvSpPr>
        <p:spPr>
          <a:xfrm>
            <a:off x="5627370" y="5492115"/>
            <a:ext cx="220980" cy="1752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 xmlns:a16="http://schemas.microsoft.com/office/drawing/2014/main" id="{AFB81F52-5C0A-4295-B40B-BA9CE9B89EC6}"/>
              </a:ext>
            </a:extLst>
          </p:cNvPr>
          <p:cNvSpPr txBox="1"/>
          <p:nvPr/>
        </p:nvSpPr>
        <p:spPr>
          <a:xfrm>
            <a:off x="5338763" y="3640156"/>
            <a:ext cx="285750" cy="400110"/>
          </a:xfrm>
          <a:prstGeom prst="rect">
            <a:avLst/>
          </a:prstGeom>
          <a:noFill/>
        </p:spPr>
        <p:txBody>
          <a:bodyPr wrap="square" rtlCol="0">
            <a:spAutoFit/>
          </a:bodyPr>
          <a:lstStyle/>
          <a:p>
            <a:r>
              <a:rPr lang="en-US" sz="2000" b="1" dirty="0"/>
              <a:t>A</a:t>
            </a:r>
          </a:p>
        </p:txBody>
      </p:sp>
      <p:sp>
        <p:nvSpPr>
          <p:cNvPr id="14" name="TextBox 13">
            <a:extLst>
              <a:ext uri="{FF2B5EF4-FFF2-40B4-BE49-F238E27FC236}">
                <a16:creationId xmlns="" xmlns:a16="http://schemas.microsoft.com/office/drawing/2014/main" id="{E87A4C61-A403-4160-8547-F431CC9B9A55}"/>
              </a:ext>
            </a:extLst>
          </p:cNvPr>
          <p:cNvSpPr txBox="1"/>
          <p:nvPr/>
        </p:nvSpPr>
        <p:spPr>
          <a:xfrm>
            <a:off x="6548122" y="3667898"/>
            <a:ext cx="285750" cy="400110"/>
          </a:xfrm>
          <a:prstGeom prst="rect">
            <a:avLst/>
          </a:prstGeom>
          <a:noFill/>
        </p:spPr>
        <p:txBody>
          <a:bodyPr wrap="square" rtlCol="0">
            <a:spAutoFit/>
          </a:bodyPr>
          <a:lstStyle/>
          <a:p>
            <a:r>
              <a:rPr lang="en-US" sz="2000" b="1" dirty="0"/>
              <a:t>B</a:t>
            </a:r>
          </a:p>
        </p:txBody>
      </p:sp>
      <p:sp>
        <p:nvSpPr>
          <p:cNvPr id="16" name="Oval 15">
            <a:extLst>
              <a:ext uri="{FF2B5EF4-FFF2-40B4-BE49-F238E27FC236}">
                <a16:creationId xmlns="" xmlns:a16="http://schemas.microsoft.com/office/drawing/2014/main" id="{A3DA0B63-DA5C-401D-99A4-13034F16BAA5}"/>
              </a:ext>
            </a:extLst>
          </p:cNvPr>
          <p:cNvSpPr/>
          <p:nvPr/>
        </p:nvSpPr>
        <p:spPr>
          <a:xfrm>
            <a:off x="6774180" y="3945016"/>
            <a:ext cx="220980" cy="19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 xmlns:a16="http://schemas.microsoft.com/office/drawing/2014/main" id="{8E5A213F-3EA3-4EDB-BB54-3FE47FEC96E6}"/>
              </a:ext>
            </a:extLst>
          </p:cNvPr>
          <p:cNvSpPr/>
          <p:nvPr/>
        </p:nvSpPr>
        <p:spPr>
          <a:xfrm>
            <a:off x="6793230" y="5509260"/>
            <a:ext cx="220980" cy="1905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 xmlns:a16="http://schemas.microsoft.com/office/drawing/2014/main" id="{5A3CABA2-00D7-49EE-A996-2843BF58CE04}"/>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WHY RSI 30 NOT RSI 14?</a:t>
            </a:r>
          </a:p>
        </p:txBody>
      </p:sp>
      <p:sp>
        <p:nvSpPr>
          <p:cNvPr id="25" name="Rectangle 24">
            <a:extLst>
              <a:ext uri="{FF2B5EF4-FFF2-40B4-BE49-F238E27FC236}">
                <a16:creationId xmlns="" xmlns:a16="http://schemas.microsoft.com/office/drawing/2014/main" id="{ABAECA4C-D2EB-4E75-AEF3-9302B44B0404}"/>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RSI30 vs RSI14</a:t>
            </a:r>
          </a:p>
          <a:p>
            <a:endParaRPr lang="en-US" sz="2400" b="1" dirty="0">
              <a:solidFill>
                <a:schemeClr val="tx1"/>
              </a:solidFill>
            </a:endParaRPr>
          </a:p>
          <a:p>
            <a:pPr marL="457200" indent="-457200">
              <a:buFont typeface="+mj-lt"/>
              <a:buAutoNum type="alphaUcPeriod"/>
            </a:pPr>
            <a:r>
              <a:rPr lang="en-US" sz="2400" dirty="0">
                <a:solidFill>
                  <a:schemeClr val="tx1"/>
                </a:solidFill>
              </a:rPr>
              <a:t>RSI14 signaled DD overbought at low 20s versus RSI30, which signaled start of parabolic move</a:t>
            </a:r>
          </a:p>
          <a:p>
            <a:pPr marL="457200" indent="-457200">
              <a:buFont typeface="+mj-lt"/>
              <a:buAutoNum type="alphaUcPeriod"/>
            </a:pPr>
            <a:endParaRPr lang="en-US" sz="2400" dirty="0">
              <a:solidFill>
                <a:schemeClr val="tx1"/>
              </a:solidFill>
            </a:endParaRPr>
          </a:p>
          <a:p>
            <a:pPr marL="457200" indent="-457200">
              <a:buFont typeface="+mj-lt"/>
              <a:buAutoNum type="alphaUcPeriod"/>
            </a:pPr>
            <a:r>
              <a:rPr lang="en-US" sz="2400" dirty="0">
                <a:solidFill>
                  <a:schemeClr val="tx1"/>
                </a:solidFill>
              </a:rPr>
              <a:t>RSI14 again signaled overbought at 40 versus RSI30, which signaled resumption of parabolic run</a:t>
            </a:r>
          </a:p>
        </p:txBody>
      </p:sp>
    </p:spTree>
    <p:extLst>
      <p:ext uri="{BB962C8B-B14F-4D97-AF65-F5344CB8AC3E}">
        <p14:creationId xmlns:p14="http://schemas.microsoft.com/office/powerpoint/2010/main" val="3957800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D73E3-66F9-4B09-B9CC-3DE08E2F37C9}"/>
              </a:ext>
            </a:extLst>
          </p:cNvPr>
          <p:cNvSpPr>
            <a:spLocks noGrp="1"/>
          </p:cNvSpPr>
          <p:nvPr>
            <p:ph type="title"/>
          </p:nvPr>
        </p:nvSpPr>
        <p:spPr/>
        <p:txBody>
          <a:bodyPr/>
          <a:lstStyle/>
          <a:p>
            <a:r>
              <a:rPr lang="en-US" dirty="0"/>
              <a:t>PARABOLIC FRAMEWORK</a:t>
            </a:r>
          </a:p>
        </p:txBody>
      </p:sp>
    </p:spTree>
    <p:extLst>
      <p:ext uri="{BB962C8B-B14F-4D97-AF65-F5344CB8AC3E}">
        <p14:creationId xmlns:p14="http://schemas.microsoft.com/office/powerpoint/2010/main" val="2858874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628650" y="876300"/>
            <a:ext cx="10725150" cy="5616573"/>
          </a:xfrm>
        </p:spPr>
        <p:txBody>
          <a:bodyPr>
            <a:normAutofit fontScale="92500" lnSpcReduction="20000"/>
          </a:bodyPr>
          <a:lstStyle/>
          <a:p>
            <a:pPr>
              <a:buFont typeface="Wingdings" panose="05000000000000000000" pitchFamily="2" charset="2"/>
              <a:buChar char="§"/>
            </a:pPr>
            <a:r>
              <a:rPr lang="en-US" sz="3200" dirty="0"/>
              <a:t>A stock is in a </a:t>
            </a:r>
            <a:r>
              <a:rPr lang="en-US" sz="3200" dirty="0">
                <a:solidFill>
                  <a:srgbClr val="0000FF"/>
                </a:solidFill>
              </a:rPr>
              <a:t>parabolic state</a:t>
            </a:r>
            <a:r>
              <a:rPr lang="en-US" sz="3200" dirty="0"/>
              <a:t> once RSI(30) is above 70.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Once in </a:t>
            </a:r>
            <a:r>
              <a:rPr lang="en-US" sz="3200" i="1" dirty="0"/>
              <a:t>parabolic</a:t>
            </a:r>
            <a:r>
              <a:rPr lang="en-US" sz="3200" dirty="0"/>
              <a:t>, there is a strong chance that price can move even higher despite overbought readings (on other RSI settings).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In short, “</a:t>
            </a:r>
            <a:r>
              <a:rPr lang="en-US" sz="3200" i="1" dirty="0"/>
              <a:t>walang overbought overbought when in parabolic”</a:t>
            </a:r>
            <a:r>
              <a:rPr lang="en-US" sz="3200" dirty="0"/>
              <a:t>. </a:t>
            </a:r>
            <a:r>
              <a:rPr lang="en-US" sz="3200" dirty="0">
                <a:sym typeface="Wingdings" panose="05000000000000000000" pitchFamily="2" charset="2"/>
              </a:rPr>
              <a:t></a:t>
            </a:r>
            <a:endParaRPr lang="en-US" sz="3200" dirty="0"/>
          </a:p>
          <a:p>
            <a:pPr>
              <a:buFont typeface="Wingdings" panose="05000000000000000000" pitchFamily="2" charset="2"/>
              <a:buChar char="§"/>
            </a:pPr>
            <a:endParaRPr lang="en-US" sz="3200" dirty="0"/>
          </a:p>
          <a:p>
            <a:pPr>
              <a:buFont typeface="Wingdings" panose="05000000000000000000" pitchFamily="2" charset="2"/>
              <a:buChar char="§"/>
            </a:pPr>
            <a:r>
              <a:rPr lang="en-US" sz="3200" dirty="0"/>
              <a:t>A parabolic state can be triggered on any time frame (i.e. weekly, daily, hourly, minutes) in a high RSI environment.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For example, if a stock’s RSI(30) exceeds 70 on the weekly chart then it is parabolic on the weekly. If RSI(30) exceeds 70 on the daily timeframe then it is parabolic on the daily chart.</a:t>
            </a:r>
          </a:p>
          <a:p>
            <a:pPr marL="0" indent="0">
              <a:buNone/>
            </a:pPr>
            <a:endParaRPr lang="en-US" sz="3200" dirty="0"/>
          </a:p>
          <a:p>
            <a:pPr>
              <a:buFont typeface="Wingdings" panose="05000000000000000000" pitchFamily="2" charset="2"/>
              <a:buChar char="§"/>
            </a:pPr>
            <a:endParaRPr lang="en-US" sz="3200" dirty="0"/>
          </a:p>
          <a:p>
            <a:pPr lvl="1">
              <a:buFont typeface="Wingdings" panose="05000000000000000000" pitchFamily="2" charset="2"/>
              <a:buChar char="§"/>
            </a:pPr>
            <a:endParaRPr lang="en-US" sz="3200" dirty="0"/>
          </a:p>
        </p:txBody>
      </p:sp>
      <p:sp>
        <p:nvSpPr>
          <p:cNvPr id="4" name="Rectangle 3">
            <a:extLst>
              <a:ext uri="{FF2B5EF4-FFF2-40B4-BE49-F238E27FC236}">
                <a16:creationId xmlns="" xmlns:a16="http://schemas.microsoft.com/office/drawing/2014/main" id="{FBF81110-0A11-40F0-97AD-B186CE6EB7D2}"/>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HOW TO DEFINE A </a:t>
            </a:r>
            <a:r>
              <a:rPr lang="en-US" sz="4000" dirty="0">
                <a:solidFill>
                  <a:srgbClr val="00B050"/>
                </a:solidFill>
              </a:rPr>
              <a:t>PARABOLIC STATE</a:t>
            </a:r>
          </a:p>
        </p:txBody>
      </p:sp>
    </p:spTree>
    <p:extLst>
      <p:ext uri="{BB962C8B-B14F-4D97-AF65-F5344CB8AC3E}">
        <p14:creationId xmlns:p14="http://schemas.microsoft.com/office/powerpoint/2010/main" val="1532984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368300" y="904876"/>
            <a:ext cx="10985500" cy="5587998"/>
          </a:xfrm>
        </p:spPr>
        <p:txBody>
          <a:bodyPr>
            <a:normAutofit/>
          </a:bodyPr>
          <a:lstStyle/>
          <a:p>
            <a:pPr>
              <a:buFont typeface="Wingdings" panose="05000000000000000000" pitchFamily="2" charset="2"/>
              <a:buChar char="§"/>
            </a:pPr>
            <a:r>
              <a:rPr lang="en-US" sz="3200" dirty="0"/>
              <a:t>A stock is in </a:t>
            </a:r>
            <a:r>
              <a:rPr lang="en-US" sz="3200" dirty="0">
                <a:solidFill>
                  <a:srgbClr val="0000FF"/>
                </a:solidFill>
              </a:rPr>
              <a:t>Parabolic High Risk </a:t>
            </a:r>
            <a:r>
              <a:rPr lang="en-US" sz="3200" dirty="0"/>
              <a:t>(PHR) when,</a:t>
            </a:r>
          </a:p>
          <a:p>
            <a:pPr lvl="1">
              <a:buFont typeface="Wingdings" panose="05000000000000000000" pitchFamily="2" charset="2"/>
              <a:buChar char="§"/>
            </a:pPr>
            <a:r>
              <a:rPr lang="en-US" sz="3200" dirty="0"/>
              <a:t>Both daily and weekly RSI(30) are greater than 70, and</a:t>
            </a:r>
          </a:p>
          <a:p>
            <a:pPr lvl="1">
              <a:buFont typeface="Wingdings" panose="05000000000000000000" pitchFamily="2" charset="2"/>
              <a:buChar char="§"/>
            </a:pPr>
            <a:r>
              <a:rPr lang="en-US" sz="3200" dirty="0"/>
              <a:t>RSI Daily &gt; RSI Weekly</a:t>
            </a:r>
          </a:p>
          <a:p>
            <a:pPr>
              <a:buFont typeface="Wingdings" panose="05000000000000000000" pitchFamily="2" charset="2"/>
              <a:buChar char="§"/>
            </a:pPr>
            <a:endParaRPr lang="en-US" sz="3200" dirty="0"/>
          </a:p>
          <a:p>
            <a:pPr>
              <a:buFont typeface="Wingdings" panose="05000000000000000000" pitchFamily="2" charset="2"/>
              <a:buChar char="§"/>
            </a:pPr>
            <a:r>
              <a:rPr lang="en-US" sz="3200" b="1" dirty="0"/>
              <a:t>Call to Action</a:t>
            </a:r>
            <a:r>
              <a:rPr lang="en-US" sz="3200" dirty="0"/>
              <a:t>: Slice up and trail stop.</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Application of Senor </a:t>
            </a:r>
            <a:r>
              <a:rPr lang="en-US" sz="3200" dirty="0" err="1"/>
              <a:t>Pethuel’s</a:t>
            </a:r>
            <a:r>
              <a:rPr lang="en-US" sz="3200" dirty="0"/>
              <a:t> Modified Parabolic System at this site https://medium.com/@pethuel03/parabolic-theory-based-stock-trading-c92e0be53230.</a:t>
            </a:r>
          </a:p>
          <a:p>
            <a:pPr>
              <a:buFont typeface="Wingdings" panose="05000000000000000000" pitchFamily="2" charset="2"/>
              <a:buChar char="§"/>
            </a:pPr>
            <a:endParaRPr lang="en-US" sz="3200" dirty="0"/>
          </a:p>
          <a:p>
            <a:pPr lvl="1">
              <a:buFont typeface="Wingdings" panose="05000000000000000000" pitchFamily="2" charset="2"/>
              <a:buChar char="§"/>
            </a:pPr>
            <a:endParaRPr lang="en-US" sz="3200" dirty="0"/>
          </a:p>
        </p:txBody>
      </p:sp>
      <p:sp>
        <p:nvSpPr>
          <p:cNvPr id="6" name="Rectangle 5">
            <a:extLst>
              <a:ext uri="{FF2B5EF4-FFF2-40B4-BE49-F238E27FC236}">
                <a16:creationId xmlns="" xmlns:a16="http://schemas.microsoft.com/office/drawing/2014/main" id="{D9EC41D7-43E9-4D41-B444-D6DCB8C29912}"/>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HOW TO DEFINE </a:t>
            </a:r>
            <a:r>
              <a:rPr lang="en-US" sz="4000" dirty="0">
                <a:solidFill>
                  <a:srgbClr val="FFFF00"/>
                </a:solidFill>
              </a:rPr>
              <a:t>PARABOLIC HIGH RISK</a:t>
            </a:r>
          </a:p>
        </p:txBody>
      </p:sp>
    </p:spTree>
    <p:extLst>
      <p:ext uri="{BB962C8B-B14F-4D97-AF65-F5344CB8AC3E}">
        <p14:creationId xmlns:p14="http://schemas.microsoft.com/office/powerpoint/2010/main" val="1185290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381000" y="885826"/>
            <a:ext cx="11391900" cy="5607048"/>
          </a:xfrm>
        </p:spPr>
        <p:txBody>
          <a:bodyPr>
            <a:normAutofit/>
          </a:bodyPr>
          <a:lstStyle/>
          <a:p>
            <a:pPr>
              <a:buFont typeface="Wingdings" panose="05000000000000000000" pitchFamily="2" charset="2"/>
              <a:buChar char="§"/>
            </a:pPr>
            <a:r>
              <a:rPr lang="en-US" sz="3200" dirty="0"/>
              <a:t>A stock is in </a:t>
            </a:r>
            <a:r>
              <a:rPr lang="en-US" sz="3200" dirty="0">
                <a:solidFill>
                  <a:srgbClr val="0000FF"/>
                </a:solidFill>
              </a:rPr>
              <a:t>Extreme Parabolic High Risk</a:t>
            </a:r>
            <a:r>
              <a:rPr lang="en-US" sz="3200" dirty="0"/>
              <a:t> (ePHR) when both daily and weekly RSI(30) are greater than 80.</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An </a:t>
            </a:r>
            <a:r>
              <a:rPr lang="en-US" sz="3200" dirty="0">
                <a:solidFill>
                  <a:srgbClr val="0000FF"/>
                </a:solidFill>
              </a:rPr>
              <a:t>ePHR</a:t>
            </a:r>
            <a:r>
              <a:rPr lang="en-US" sz="3200" dirty="0"/>
              <a:t> signals that the stock is likely to top out, it’s higher risk, and extremely volatile. ePHR also suggests FOMO condition that’s unsustainable and will likely reverse and trigger a deep correction.</a:t>
            </a:r>
          </a:p>
          <a:p>
            <a:pPr>
              <a:buFont typeface="Wingdings" panose="05000000000000000000" pitchFamily="2" charset="2"/>
              <a:buChar char="§"/>
            </a:pPr>
            <a:endParaRPr lang="en-US" sz="3200" dirty="0"/>
          </a:p>
          <a:p>
            <a:pPr>
              <a:buFont typeface="Wingdings" panose="05000000000000000000" pitchFamily="2" charset="2"/>
              <a:buChar char="§"/>
            </a:pPr>
            <a:r>
              <a:rPr lang="en-US" sz="3200" b="1" dirty="0"/>
              <a:t>Call to Action</a:t>
            </a:r>
            <a:r>
              <a:rPr lang="en-US" sz="3200" dirty="0"/>
              <a:t>: Sell on sight. Sell when it’s easy. Don’t wait for the stampede. Bid and offer will widen when price reverses and panic sets in. Bid volume will dry up and this leads to a “</a:t>
            </a:r>
            <a:r>
              <a:rPr lang="en-US" sz="3200" i="1" dirty="0">
                <a:solidFill>
                  <a:srgbClr val="FF0000"/>
                </a:solidFill>
              </a:rPr>
              <a:t>paraburst</a:t>
            </a:r>
            <a:r>
              <a:rPr lang="en-US" sz="3200" dirty="0"/>
              <a:t>”. </a:t>
            </a:r>
          </a:p>
        </p:txBody>
      </p:sp>
      <p:sp>
        <p:nvSpPr>
          <p:cNvPr id="6" name="Rectangle 5">
            <a:extLst>
              <a:ext uri="{FF2B5EF4-FFF2-40B4-BE49-F238E27FC236}">
                <a16:creationId xmlns="" xmlns:a16="http://schemas.microsoft.com/office/drawing/2014/main" id="{F9305F13-CF8B-46C5-8F91-40BB4078C5E9}"/>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HOW TO DEFINE </a:t>
            </a:r>
            <a:r>
              <a:rPr lang="en-US" sz="4000" dirty="0">
                <a:solidFill>
                  <a:srgbClr val="FF0000"/>
                </a:solidFill>
              </a:rPr>
              <a:t>EXTREME PARABOLIC HIGH RISK</a:t>
            </a:r>
          </a:p>
        </p:txBody>
      </p:sp>
    </p:spTree>
    <p:extLst>
      <p:ext uri="{BB962C8B-B14F-4D97-AF65-F5344CB8AC3E}">
        <p14:creationId xmlns:p14="http://schemas.microsoft.com/office/powerpoint/2010/main" val="3976198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342901" y="952500"/>
            <a:ext cx="11010900" cy="5540374"/>
          </a:xfrm>
        </p:spPr>
        <p:txBody>
          <a:bodyPr>
            <a:normAutofit fontScale="85000" lnSpcReduction="20000"/>
          </a:bodyPr>
          <a:lstStyle/>
          <a:p>
            <a:pPr>
              <a:buFont typeface="Wingdings" panose="05000000000000000000" pitchFamily="2" charset="2"/>
              <a:buChar char="§"/>
            </a:pPr>
            <a:r>
              <a:rPr lang="en-US" sz="3200" dirty="0"/>
              <a:t>A parabolic burst or “</a:t>
            </a:r>
            <a:r>
              <a:rPr lang="en-US" sz="3200" dirty="0">
                <a:solidFill>
                  <a:srgbClr val="FF0000"/>
                </a:solidFill>
              </a:rPr>
              <a:t>paraburst</a:t>
            </a:r>
            <a:r>
              <a:rPr lang="en-US" sz="3200" dirty="0"/>
              <a:t>” is an event that takes place at the end of a parabolic run.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While price can transition from </a:t>
            </a:r>
            <a:r>
              <a:rPr lang="en-US" sz="3200" i="1" dirty="0">
                <a:solidFill>
                  <a:srgbClr val="00B050"/>
                </a:solidFill>
              </a:rPr>
              <a:t>uptrend</a:t>
            </a:r>
            <a:r>
              <a:rPr lang="en-US" sz="3200" dirty="0"/>
              <a:t> to </a:t>
            </a:r>
            <a:r>
              <a:rPr lang="en-US" sz="3200" i="1" dirty="0">
                <a:solidFill>
                  <a:schemeClr val="accent2"/>
                </a:solidFill>
              </a:rPr>
              <a:t>range</a:t>
            </a:r>
            <a:r>
              <a:rPr lang="en-US" sz="3200" dirty="0"/>
              <a:t> to </a:t>
            </a:r>
            <a:r>
              <a:rPr lang="en-US" sz="3200" i="1" dirty="0">
                <a:solidFill>
                  <a:srgbClr val="FF0000"/>
                </a:solidFill>
              </a:rPr>
              <a:t>downtrend</a:t>
            </a:r>
            <a:r>
              <a:rPr lang="en-US" sz="3200" dirty="0"/>
              <a:t> in an orderly manner, always remember that the distribution phase happening while price is moving up and participation and volume is rising.</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This means that price can transition from </a:t>
            </a:r>
            <a:r>
              <a:rPr lang="en-US" sz="3200" i="1" dirty="0">
                <a:solidFill>
                  <a:srgbClr val="00B050"/>
                </a:solidFill>
              </a:rPr>
              <a:t>uptrend </a:t>
            </a:r>
            <a:r>
              <a:rPr lang="en-US" sz="3200" dirty="0"/>
              <a:t>to </a:t>
            </a:r>
            <a:r>
              <a:rPr lang="en-US" sz="3200" i="1" dirty="0">
                <a:solidFill>
                  <a:srgbClr val="FF0000"/>
                </a:solidFill>
              </a:rPr>
              <a:t>downtrend</a:t>
            </a:r>
            <a:r>
              <a:rPr lang="en-US" sz="3200" dirty="0"/>
              <a:t> </a:t>
            </a:r>
            <a:r>
              <a:rPr lang="en-US" sz="3200" i="1" dirty="0"/>
              <a:t>without </a:t>
            </a:r>
            <a:r>
              <a:rPr lang="en-US" sz="3200" dirty="0"/>
              <a:t>moving sideways in a </a:t>
            </a:r>
            <a:r>
              <a:rPr lang="en-US" sz="3200" i="1" dirty="0"/>
              <a:t>paraburst</a:t>
            </a:r>
            <a:r>
              <a:rPr lang="en-US" sz="3200" dirty="0"/>
              <a:t>.</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When “</a:t>
            </a:r>
            <a:r>
              <a:rPr lang="en-US" sz="3200" i="1" dirty="0">
                <a:solidFill>
                  <a:srgbClr val="FF0000"/>
                </a:solidFill>
              </a:rPr>
              <a:t>new money</a:t>
            </a:r>
            <a:r>
              <a:rPr lang="en-US" sz="3200" dirty="0"/>
              <a:t>” stops coming in, price can reverse and leave the investing public with deep losses.</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A </a:t>
            </a:r>
            <a:r>
              <a:rPr lang="en-US" sz="3200" i="1" dirty="0">
                <a:solidFill>
                  <a:srgbClr val="0000FF"/>
                </a:solidFill>
              </a:rPr>
              <a:t>paraburst</a:t>
            </a:r>
            <a:r>
              <a:rPr lang="en-US" sz="3200" dirty="0"/>
              <a:t> can be traded on deep dips, but only if you know what you’re doing. Bounce trades from a paraburst should be sold into. </a:t>
            </a:r>
          </a:p>
        </p:txBody>
      </p:sp>
      <p:sp>
        <p:nvSpPr>
          <p:cNvPr id="6" name="Rectangle 5">
            <a:extLst>
              <a:ext uri="{FF2B5EF4-FFF2-40B4-BE49-F238E27FC236}">
                <a16:creationId xmlns="" xmlns:a16="http://schemas.microsoft.com/office/drawing/2014/main" id="{CF315E19-D83A-45B7-91C0-9A10B028A277}"/>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ALL PARABOLICS POP AND ALWAYS END IN TEARS</a:t>
            </a:r>
          </a:p>
        </p:txBody>
      </p:sp>
    </p:spTree>
    <p:extLst>
      <p:ext uri="{BB962C8B-B14F-4D97-AF65-F5344CB8AC3E}">
        <p14:creationId xmlns:p14="http://schemas.microsoft.com/office/powerpoint/2010/main" val="948579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619125" y="981076"/>
            <a:ext cx="10734675" cy="5511798"/>
          </a:xfrm>
        </p:spPr>
        <p:txBody>
          <a:bodyPr>
            <a:normAutofit lnSpcReduction="10000"/>
          </a:bodyPr>
          <a:lstStyle/>
          <a:p>
            <a:pPr>
              <a:buFont typeface="Wingdings" panose="05000000000000000000" pitchFamily="2" charset="2"/>
              <a:buChar char="§"/>
            </a:pPr>
            <a:r>
              <a:rPr lang="en-US" sz="3200" dirty="0"/>
              <a:t>When a stock is in parabolic, the stock has a </a:t>
            </a:r>
            <a:r>
              <a:rPr lang="en-US" sz="3200" i="1" dirty="0">
                <a:solidFill>
                  <a:srgbClr val="FF0000"/>
                </a:solidFill>
              </a:rPr>
              <a:t>higher risk</a:t>
            </a:r>
            <a:r>
              <a:rPr lang="en-US" sz="3200" dirty="0"/>
              <a:t>. While price can move higher exponentially, the trade-off is </a:t>
            </a:r>
            <a:r>
              <a:rPr lang="en-US" sz="3200" i="1" dirty="0">
                <a:solidFill>
                  <a:srgbClr val="FF0000"/>
                </a:solidFill>
              </a:rPr>
              <a:t>extreme volatility</a:t>
            </a:r>
            <a:r>
              <a:rPr lang="en-US" sz="3200" dirty="0"/>
              <a:t>. In other words, you can lose a lot chasing a stock in parabolic.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Trading stocks in parabolic can be profitable, but only if you know what you’re doing. Know the risk and prepare yourself for wild swings as price moves higher. </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solidFill>
                  <a:srgbClr val="0000FF"/>
                </a:solidFill>
              </a:rPr>
              <a:t>TIP</a:t>
            </a:r>
            <a:r>
              <a:rPr lang="en-US" sz="3200" dirty="0"/>
              <a:t>: Only trade the parabolic within the time frame it occurs. Don’t assume that parabolic run will persist at higher time frames. </a:t>
            </a:r>
          </a:p>
          <a:p>
            <a:pPr>
              <a:buFont typeface="Wingdings" panose="05000000000000000000" pitchFamily="2" charset="2"/>
              <a:buChar char="§"/>
            </a:pPr>
            <a:endParaRPr lang="en-US" sz="3200" dirty="0"/>
          </a:p>
          <a:p>
            <a:pPr marL="0" indent="0">
              <a:buNone/>
            </a:pPr>
            <a:endParaRPr lang="en-US" sz="3200" dirty="0"/>
          </a:p>
          <a:p>
            <a:pPr>
              <a:buFont typeface="Wingdings" panose="05000000000000000000" pitchFamily="2" charset="2"/>
              <a:buChar char="§"/>
            </a:pPr>
            <a:endParaRPr lang="en-US" sz="3200" dirty="0"/>
          </a:p>
          <a:p>
            <a:pPr lvl="1">
              <a:buFont typeface="Wingdings" panose="05000000000000000000" pitchFamily="2" charset="2"/>
              <a:buChar char="§"/>
            </a:pPr>
            <a:endParaRPr lang="en-US" sz="3200" dirty="0"/>
          </a:p>
        </p:txBody>
      </p:sp>
      <p:sp>
        <p:nvSpPr>
          <p:cNvPr id="6" name="Rectangle 5">
            <a:extLst>
              <a:ext uri="{FF2B5EF4-FFF2-40B4-BE49-F238E27FC236}">
                <a16:creationId xmlns="" xmlns:a16="http://schemas.microsoft.com/office/drawing/2014/main" id="{AB09626B-73E9-4564-9971-D6519E2D652A}"/>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KEY RISK WHEN TRADING PARABOLICS</a:t>
            </a:r>
          </a:p>
        </p:txBody>
      </p:sp>
    </p:spTree>
    <p:extLst>
      <p:ext uri="{BB962C8B-B14F-4D97-AF65-F5344CB8AC3E}">
        <p14:creationId xmlns:p14="http://schemas.microsoft.com/office/powerpoint/2010/main" val="450827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D73E3-66F9-4B09-B9CC-3DE08E2F37C9}"/>
              </a:ext>
            </a:extLst>
          </p:cNvPr>
          <p:cNvSpPr>
            <a:spLocks noGrp="1"/>
          </p:cNvSpPr>
          <p:nvPr>
            <p:ph type="title"/>
          </p:nvPr>
        </p:nvSpPr>
        <p:spPr/>
        <p:txBody>
          <a:bodyPr/>
          <a:lstStyle/>
          <a:p>
            <a:r>
              <a:rPr lang="en-US" dirty="0"/>
              <a:t>EXAMPLES OF PARABURST</a:t>
            </a:r>
          </a:p>
        </p:txBody>
      </p:sp>
    </p:spTree>
    <p:extLst>
      <p:ext uri="{BB962C8B-B14F-4D97-AF65-F5344CB8AC3E}">
        <p14:creationId xmlns:p14="http://schemas.microsoft.com/office/powerpoint/2010/main" val="3498857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440F5639-1974-418A-A0F9-2BD224B4233F}"/>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BEARISH WEDGE EARLIEST SIGN OF A TOP</a:t>
            </a:r>
          </a:p>
        </p:txBody>
      </p:sp>
      <p:pic>
        <p:nvPicPr>
          <p:cNvPr id="17" name="Picture 16">
            <a:extLst>
              <a:ext uri="{FF2B5EF4-FFF2-40B4-BE49-F238E27FC236}">
                <a16:creationId xmlns="" xmlns:a16="http://schemas.microsoft.com/office/drawing/2014/main" id="{D5FDFCF6-655F-4C67-B8EE-E77A276AFF7B}"/>
              </a:ext>
            </a:extLst>
          </p:cNvPr>
          <p:cNvPicPr>
            <a:picLocks noChangeAspect="1"/>
          </p:cNvPicPr>
          <p:nvPr/>
        </p:nvPicPr>
        <p:blipFill rotWithShape="1">
          <a:blip r:embed="rId2"/>
          <a:srcRect t="461" b="54262"/>
          <a:stretch/>
        </p:blipFill>
        <p:spPr>
          <a:xfrm>
            <a:off x="0" y="681037"/>
            <a:ext cx="12192000" cy="6176963"/>
          </a:xfrm>
          <a:prstGeom prst="rect">
            <a:avLst/>
          </a:prstGeom>
          <a:ln>
            <a:solidFill>
              <a:schemeClr val="tx1"/>
            </a:solidFill>
          </a:ln>
        </p:spPr>
      </p:pic>
    </p:spTree>
    <p:extLst>
      <p:ext uri="{BB962C8B-B14F-4D97-AF65-F5344CB8AC3E}">
        <p14:creationId xmlns:p14="http://schemas.microsoft.com/office/powerpoint/2010/main" val="4228676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440F5639-1974-418A-A0F9-2BD224B4233F}"/>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BEARISH WEDGE EARLIEST SIGN OF A TOP</a:t>
            </a:r>
          </a:p>
        </p:txBody>
      </p:sp>
      <p:pic>
        <p:nvPicPr>
          <p:cNvPr id="4" name="Content Placeholder 3">
            <a:extLst>
              <a:ext uri="{FF2B5EF4-FFF2-40B4-BE49-F238E27FC236}">
                <a16:creationId xmlns="" xmlns:a16="http://schemas.microsoft.com/office/drawing/2014/main" id="{7931269A-2DC3-41CC-8913-473783085769}"/>
              </a:ext>
            </a:extLst>
          </p:cNvPr>
          <p:cNvPicPr>
            <a:picLocks noChangeAspect="1"/>
          </p:cNvPicPr>
          <p:nvPr/>
        </p:nvPicPr>
        <p:blipFill rotWithShape="1">
          <a:blip r:embed="rId2">
            <a:extLst>
              <a:ext uri="{28A0092B-C50C-407E-A947-70E740481C1C}">
                <a14:useLocalDpi xmlns:a14="http://schemas.microsoft.com/office/drawing/2010/main" val="0"/>
              </a:ext>
            </a:extLst>
          </a:blip>
          <a:srcRect t="51272" b="3362"/>
          <a:stretch/>
        </p:blipFill>
        <p:spPr>
          <a:xfrm>
            <a:off x="-1" y="681036"/>
            <a:ext cx="12180509" cy="6176964"/>
          </a:xfrm>
          <a:prstGeom prst="rect">
            <a:avLst/>
          </a:prstGeom>
        </p:spPr>
      </p:pic>
    </p:spTree>
    <p:extLst>
      <p:ext uri="{BB962C8B-B14F-4D97-AF65-F5344CB8AC3E}">
        <p14:creationId xmlns:p14="http://schemas.microsoft.com/office/powerpoint/2010/main" val="146099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440F5639-1974-418A-A0F9-2BD224B4233F}"/>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BURJ KHALIFA: WORST CASE SCENARIO IN A PARABURST</a:t>
            </a:r>
          </a:p>
        </p:txBody>
      </p:sp>
      <p:pic>
        <p:nvPicPr>
          <p:cNvPr id="4" name="Content Placeholder 3">
            <a:extLst>
              <a:ext uri="{FF2B5EF4-FFF2-40B4-BE49-F238E27FC236}">
                <a16:creationId xmlns="" xmlns:a16="http://schemas.microsoft.com/office/drawing/2014/main" id="{A9E32E0C-6C7E-4231-95CA-AF3FFB5628AC}"/>
              </a:ext>
            </a:extLst>
          </p:cNvPr>
          <p:cNvPicPr>
            <a:picLocks noChangeAspect="1"/>
          </p:cNvPicPr>
          <p:nvPr/>
        </p:nvPicPr>
        <p:blipFill rotWithShape="1">
          <a:blip r:embed="rId2">
            <a:extLst>
              <a:ext uri="{28A0092B-C50C-407E-A947-70E740481C1C}">
                <a14:useLocalDpi xmlns:a14="http://schemas.microsoft.com/office/drawing/2010/main" val="0"/>
              </a:ext>
            </a:extLst>
          </a:blip>
          <a:srcRect l="625" t="15970" b="4498"/>
          <a:stretch/>
        </p:blipFill>
        <p:spPr>
          <a:xfrm>
            <a:off x="0" y="681038"/>
            <a:ext cx="12192000" cy="6176962"/>
          </a:xfrm>
          <a:prstGeom prst="rect">
            <a:avLst/>
          </a:prstGeom>
          <a:ln>
            <a:solidFill>
              <a:schemeClr val="tx1"/>
            </a:solidFill>
          </a:ln>
        </p:spPr>
      </p:pic>
    </p:spTree>
    <p:extLst>
      <p:ext uri="{BB962C8B-B14F-4D97-AF65-F5344CB8AC3E}">
        <p14:creationId xmlns:p14="http://schemas.microsoft.com/office/powerpoint/2010/main" val="348112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440F5639-1974-418A-A0F9-2BD224B4233F}"/>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BURJ KHALIFA: WORST CASE SCENARIO IN A PARABURST</a:t>
            </a:r>
          </a:p>
        </p:txBody>
      </p:sp>
      <p:pic>
        <p:nvPicPr>
          <p:cNvPr id="2" name="Picture 1">
            <a:extLst>
              <a:ext uri="{FF2B5EF4-FFF2-40B4-BE49-F238E27FC236}">
                <a16:creationId xmlns="" xmlns:a16="http://schemas.microsoft.com/office/drawing/2014/main" id="{16B3FAF8-C8AD-4021-93C3-D12F084BDC60}"/>
              </a:ext>
            </a:extLst>
          </p:cNvPr>
          <p:cNvPicPr>
            <a:picLocks noChangeAspect="1"/>
          </p:cNvPicPr>
          <p:nvPr/>
        </p:nvPicPr>
        <p:blipFill rotWithShape="1">
          <a:blip r:embed="rId2"/>
          <a:srcRect t="21125" r="50000" b="3246"/>
          <a:stretch/>
        </p:blipFill>
        <p:spPr>
          <a:xfrm>
            <a:off x="0" y="681037"/>
            <a:ext cx="6096000" cy="6176963"/>
          </a:xfrm>
          <a:prstGeom prst="rect">
            <a:avLst/>
          </a:prstGeom>
        </p:spPr>
      </p:pic>
      <p:pic>
        <p:nvPicPr>
          <p:cNvPr id="3" name="Picture 2">
            <a:extLst>
              <a:ext uri="{FF2B5EF4-FFF2-40B4-BE49-F238E27FC236}">
                <a16:creationId xmlns="" xmlns:a16="http://schemas.microsoft.com/office/drawing/2014/main" id="{834FE8EF-7783-4349-AEA5-95E45C21EBF1}"/>
              </a:ext>
            </a:extLst>
          </p:cNvPr>
          <p:cNvPicPr>
            <a:picLocks noChangeAspect="1"/>
          </p:cNvPicPr>
          <p:nvPr/>
        </p:nvPicPr>
        <p:blipFill rotWithShape="1">
          <a:blip r:embed="rId3"/>
          <a:srcRect t="5139"/>
          <a:stretch/>
        </p:blipFill>
        <p:spPr>
          <a:xfrm>
            <a:off x="6095999" y="681036"/>
            <a:ext cx="6096000" cy="6176963"/>
          </a:xfrm>
          <a:prstGeom prst="rect">
            <a:avLst/>
          </a:prstGeom>
        </p:spPr>
      </p:pic>
      <p:sp>
        <p:nvSpPr>
          <p:cNvPr id="5" name="TextBox 4">
            <a:extLst>
              <a:ext uri="{FF2B5EF4-FFF2-40B4-BE49-F238E27FC236}">
                <a16:creationId xmlns="" xmlns:a16="http://schemas.microsoft.com/office/drawing/2014/main" id="{3F208242-690B-4341-9668-82AE17B31A91}"/>
              </a:ext>
            </a:extLst>
          </p:cNvPr>
          <p:cNvSpPr txBox="1"/>
          <p:nvPr/>
        </p:nvSpPr>
        <p:spPr>
          <a:xfrm>
            <a:off x="6429375" y="4133850"/>
            <a:ext cx="314325" cy="369332"/>
          </a:xfrm>
          <a:prstGeom prst="rect">
            <a:avLst/>
          </a:prstGeom>
          <a:noFill/>
        </p:spPr>
        <p:txBody>
          <a:bodyPr wrap="square" rtlCol="0">
            <a:spAutoFit/>
          </a:bodyPr>
          <a:lstStyle/>
          <a:p>
            <a:r>
              <a:rPr lang="en-US" b="1" dirty="0">
                <a:solidFill>
                  <a:srgbClr val="0000FF"/>
                </a:solidFill>
              </a:rPr>
              <a:t>A</a:t>
            </a:r>
          </a:p>
        </p:txBody>
      </p:sp>
      <p:sp>
        <p:nvSpPr>
          <p:cNvPr id="7" name="TextBox 6">
            <a:extLst>
              <a:ext uri="{FF2B5EF4-FFF2-40B4-BE49-F238E27FC236}">
                <a16:creationId xmlns="" xmlns:a16="http://schemas.microsoft.com/office/drawing/2014/main" id="{E093AF9F-C045-43BD-9463-61FAA4614336}"/>
              </a:ext>
            </a:extLst>
          </p:cNvPr>
          <p:cNvSpPr txBox="1"/>
          <p:nvPr/>
        </p:nvSpPr>
        <p:spPr>
          <a:xfrm>
            <a:off x="7067550" y="3461266"/>
            <a:ext cx="314325" cy="369332"/>
          </a:xfrm>
          <a:prstGeom prst="rect">
            <a:avLst/>
          </a:prstGeom>
          <a:noFill/>
        </p:spPr>
        <p:txBody>
          <a:bodyPr wrap="square" rtlCol="0">
            <a:spAutoFit/>
          </a:bodyPr>
          <a:lstStyle/>
          <a:p>
            <a:r>
              <a:rPr lang="en-US" b="1" dirty="0">
                <a:solidFill>
                  <a:srgbClr val="0000FF"/>
                </a:solidFill>
              </a:rPr>
              <a:t>B</a:t>
            </a:r>
          </a:p>
        </p:txBody>
      </p:sp>
      <p:sp>
        <p:nvSpPr>
          <p:cNvPr id="8" name="TextBox 7">
            <a:extLst>
              <a:ext uri="{FF2B5EF4-FFF2-40B4-BE49-F238E27FC236}">
                <a16:creationId xmlns="" xmlns:a16="http://schemas.microsoft.com/office/drawing/2014/main" id="{DFC22042-E372-464E-8173-6A2459C5065F}"/>
              </a:ext>
            </a:extLst>
          </p:cNvPr>
          <p:cNvSpPr txBox="1"/>
          <p:nvPr/>
        </p:nvSpPr>
        <p:spPr>
          <a:xfrm>
            <a:off x="7296150" y="942975"/>
            <a:ext cx="314325" cy="369332"/>
          </a:xfrm>
          <a:prstGeom prst="rect">
            <a:avLst/>
          </a:prstGeom>
          <a:noFill/>
        </p:spPr>
        <p:txBody>
          <a:bodyPr wrap="square" rtlCol="0">
            <a:spAutoFit/>
          </a:bodyPr>
          <a:lstStyle/>
          <a:p>
            <a:r>
              <a:rPr lang="en-US" b="1" dirty="0">
                <a:solidFill>
                  <a:srgbClr val="0000FF"/>
                </a:solidFill>
              </a:rPr>
              <a:t>C</a:t>
            </a:r>
          </a:p>
        </p:txBody>
      </p:sp>
    </p:spTree>
    <p:extLst>
      <p:ext uri="{BB962C8B-B14F-4D97-AF65-F5344CB8AC3E}">
        <p14:creationId xmlns:p14="http://schemas.microsoft.com/office/powerpoint/2010/main" val="3850591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 xmlns:a16="http://schemas.microsoft.com/office/drawing/2014/main" id="{440F5639-1974-418A-A0F9-2BD224B4233F}"/>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BURJ KHALIFA: WORST CASE SCENARIO IN A PARABURST</a:t>
            </a:r>
          </a:p>
        </p:txBody>
      </p:sp>
      <p:pic>
        <p:nvPicPr>
          <p:cNvPr id="2" name="Picture 1">
            <a:extLst>
              <a:ext uri="{FF2B5EF4-FFF2-40B4-BE49-F238E27FC236}">
                <a16:creationId xmlns="" xmlns:a16="http://schemas.microsoft.com/office/drawing/2014/main" id="{16B3FAF8-C8AD-4021-93C3-D12F084BD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6096000" cy="6176963"/>
          </a:xfrm>
          <a:prstGeom prst="rect">
            <a:avLst/>
          </a:prstGeom>
        </p:spPr>
      </p:pic>
      <p:pic>
        <p:nvPicPr>
          <p:cNvPr id="3" name="Picture 2">
            <a:extLst>
              <a:ext uri="{FF2B5EF4-FFF2-40B4-BE49-F238E27FC236}">
                <a16:creationId xmlns="" xmlns:a16="http://schemas.microsoft.com/office/drawing/2014/main" id="{834FE8EF-7783-4349-AEA5-95E45C21E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681038"/>
            <a:ext cx="6096000" cy="6176962"/>
          </a:xfrm>
          <a:prstGeom prst="rect">
            <a:avLst/>
          </a:prstGeom>
        </p:spPr>
      </p:pic>
    </p:spTree>
    <p:extLst>
      <p:ext uri="{BB962C8B-B14F-4D97-AF65-F5344CB8AC3E}">
        <p14:creationId xmlns:p14="http://schemas.microsoft.com/office/powerpoint/2010/main" val="825795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315A187F-6F60-4B39-8EE0-CCBE6F0BF439}"/>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PARABURST EXCEPTION: GOLDEN BRIA HOLDINGS</a:t>
            </a:r>
          </a:p>
        </p:txBody>
      </p:sp>
      <p:sp>
        <p:nvSpPr>
          <p:cNvPr id="8" name="Rectangle 7"/>
          <p:cNvSpPr/>
          <p:nvPr/>
        </p:nvSpPr>
        <p:spPr>
          <a:xfrm>
            <a:off x="1042587" y="871671"/>
            <a:ext cx="9537105" cy="4524315"/>
          </a:xfrm>
          <a:prstGeom prst="rect">
            <a:avLst/>
          </a:prstGeom>
        </p:spPr>
        <p:txBody>
          <a:bodyPr wrap="square">
            <a:spAutoFit/>
          </a:bodyPr>
          <a:lstStyle/>
          <a:p>
            <a:r>
              <a:rPr lang="en-US" dirty="0"/>
              <a:t>this is the </a:t>
            </a:r>
            <a:r>
              <a:rPr lang="en-US" dirty="0" err="1"/>
              <a:t>burj</a:t>
            </a:r>
            <a:r>
              <a:rPr lang="en-US" dirty="0"/>
              <a:t> </a:t>
            </a:r>
            <a:r>
              <a:rPr lang="en-US" dirty="0" err="1"/>
              <a:t>khalifa's</a:t>
            </a:r>
            <a:r>
              <a:rPr lang="en-US" dirty="0"/>
              <a:t> pattern coined by </a:t>
            </a:r>
            <a:r>
              <a:rPr lang="en-US" dirty="0" err="1"/>
              <a:t>Jaycob</a:t>
            </a:r>
            <a:r>
              <a:rPr lang="en-US" dirty="0"/>
              <a:t> </a:t>
            </a:r>
            <a:r>
              <a:rPr lang="en-US" dirty="0" err="1"/>
              <a:t>Yedra</a:t>
            </a:r>
            <a:r>
              <a:rPr lang="en-US" dirty="0"/>
              <a:t> of AP Sec. may </a:t>
            </a:r>
            <a:r>
              <a:rPr lang="en-US" dirty="0" err="1"/>
              <a:t>mga</a:t>
            </a:r>
            <a:r>
              <a:rPr lang="en-US" dirty="0"/>
              <a:t> hint's kung </a:t>
            </a:r>
            <a:r>
              <a:rPr lang="en-US" dirty="0" err="1"/>
              <a:t>papano</a:t>
            </a:r>
            <a:r>
              <a:rPr lang="en-US" dirty="0"/>
              <a:t> </a:t>
            </a:r>
            <a:r>
              <a:rPr lang="en-US" dirty="0" err="1"/>
              <a:t>natin</a:t>
            </a:r>
            <a:r>
              <a:rPr lang="en-US" dirty="0"/>
              <a:t> </a:t>
            </a:r>
            <a:r>
              <a:rPr lang="en-US" dirty="0" err="1"/>
              <a:t>maiwasan</a:t>
            </a:r>
            <a:r>
              <a:rPr lang="en-US" dirty="0"/>
              <a:t> to.. </a:t>
            </a:r>
            <a:r>
              <a:rPr lang="en-US" dirty="0" err="1"/>
              <a:t>prob</a:t>
            </a:r>
            <a:r>
              <a:rPr lang="en-US" dirty="0"/>
              <a:t> </a:t>
            </a:r>
            <a:r>
              <a:rPr lang="en-US" dirty="0" err="1"/>
              <a:t>lang</a:t>
            </a:r>
            <a:r>
              <a:rPr lang="en-US" dirty="0"/>
              <a:t> </a:t>
            </a:r>
            <a:r>
              <a:rPr lang="en-US" dirty="0" err="1"/>
              <a:t>minsan</a:t>
            </a:r>
            <a:r>
              <a:rPr lang="en-US" dirty="0"/>
              <a:t>, </a:t>
            </a:r>
            <a:r>
              <a:rPr lang="en-US" dirty="0" err="1"/>
              <a:t>sadyang</a:t>
            </a:r>
            <a:r>
              <a:rPr lang="en-US" dirty="0"/>
              <a:t> gusto </a:t>
            </a:r>
            <a:r>
              <a:rPr lang="en-US" dirty="0" err="1"/>
              <a:t>talaga</a:t>
            </a:r>
            <a:r>
              <a:rPr lang="en-US" dirty="0"/>
              <a:t> </a:t>
            </a:r>
            <a:r>
              <a:rPr lang="en-US" dirty="0" err="1"/>
              <a:t>ng</a:t>
            </a:r>
            <a:r>
              <a:rPr lang="en-US" dirty="0"/>
              <a:t> </a:t>
            </a:r>
            <a:r>
              <a:rPr lang="en-US" dirty="0" err="1"/>
              <a:t>tao</a:t>
            </a:r>
            <a:r>
              <a:rPr lang="en-US" dirty="0"/>
              <a:t> </a:t>
            </a:r>
            <a:r>
              <a:rPr lang="en-US" dirty="0" err="1"/>
              <a:t>ng</a:t>
            </a:r>
            <a:r>
              <a:rPr lang="en-US" dirty="0"/>
              <a:t> one shot retirement bagger. unfortunately very common </a:t>
            </a:r>
            <a:r>
              <a:rPr lang="en-US" dirty="0" err="1"/>
              <a:t>na</a:t>
            </a:r>
            <a:r>
              <a:rPr lang="en-US" dirty="0"/>
              <a:t> mentality </a:t>
            </a:r>
            <a:r>
              <a:rPr lang="en-US" dirty="0" err="1"/>
              <a:t>sa</a:t>
            </a:r>
            <a:r>
              <a:rPr lang="en-US" dirty="0"/>
              <a:t> </a:t>
            </a:r>
            <a:r>
              <a:rPr lang="en-US" dirty="0" err="1"/>
              <a:t>mga</a:t>
            </a:r>
            <a:r>
              <a:rPr lang="en-US" dirty="0"/>
              <a:t> heroes </a:t>
            </a:r>
            <a:r>
              <a:rPr lang="en-US" dirty="0" err="1"/>
              <a:t>nating</a:t>
            </a:r>
            <a:r>
              <a:rPr lang="en-US" dirty="0"/>
              <a:t> </a:t>
            </a:r>
            <a:r>
              <a:rPr lang="en-US" dirty="0" err="1"/>
              <a:t>ofw</a:t>
            </a:r>
            <a:r>
              <a:rPr lang="en-US" dirty="0"/>
              <a:t> (at least </a:t>
            </a:r>
            <a:r>
              <a:rPr lang="en-US" dirty="0" err="1"/>
              <a:t>sa</a:t>
            </a:r>
            <a:r>
              <a:rPr lang="en-US" dirty="0"/>
              <a:t> </a:t>
            </a:r>
            <a:r>
              <a:rPr lang="en-US" dirty="0" err="1"/>
              <a:t>mga</a:t>
            </a:r>
            <a:r>
              <a:rPr lang="en-US" dirty="0"/>
              <a:t> clients </a:t>
            </a:r>
            <a:r>
              <a:rPr lang="en-US" dirty="0" err="1"/>
              <a:t>ko</a:t>
            </a:r>
            <a:r>
              <a:rPr lang="en-US" dirty="0"/>
              <a:t> all these years). </a:t>
            </a:r>
            <a:r>
              <a:rPr lang="en-US" dirty="0" err="1"/>
              <a:t>kasi</a:t>
            </a:r>
            <a:r>
              <a:rPr lang="en-US" dirty="0"/>
              <a:t> </a:t>
            </a:r>
            <a:r>
              <a:rPr lang="en-US" dirty="0" err="1"/>
              <a:t>sobrang</a:t>
            </a:r>
            <a:r>
              <a:rPr lang="en-US" dirty="0"/>
              <a:t> </a:t>
            </a:r>
            <a:r>
              <a:rPr lang="en-US" dirty="0" err="1"/>
              <a:t>hirap</a:t>
            </a:r>
            <a:r>
              <a:rPr lang="en-US" dirty="0"/>
              <a:t> </a:t>
            </a:r>
            <a:r>
              <a:rPr lang="en-US" dirty="0" err="1"/>
              <a:t>ng</a:t>
            </a:r>
            <a:r>
              <a:rPr lang="en-US" dirty="0"/>
              <a:t> </a:t>
            </a:r>
            <a:r>
              <a:rPr lang="en-US" dirty="0" err="1"/>
              <a:t>buhay</a:t>
            </a:r>
            <a:r>
              <a:rPr lang="en-US" dirty="0"/>
              <a:t> </a:t>
            </a:r>
            <a:r>
              <a:rPr lang="en-US" dirty="0" err="1"/>
              <a:t>sa</a:t>
            </a:r>
            <a:r>
              <a:rPr lang="en-US" dirty="0"/>
              <a:t> </a:t>
            </a:r>
            <a:r>
              <a:rPr lang="en-US" dirty="0" err="1"/>
              <a:t>ibang</a:t>
            </a:r>
            <a:r>
              <a:rPr lang="en-US" dirty="0"/>
              <a:t> </a:t>
            </a:r>
            <a:r>
              <a:rPr lang="en-US" dirty="0" err="1"/>
              <a:t>bansa</a:t>
            </a:r>
            <a:r>
              <a:rPr lang="en-US" dirty="0"/>
              <a:t> and </a:t>
            </a:r>
            <a:r>
              <a:rPr lang="en-US" dirty="0" err="1"/>
              <a:t>kapag</a:t>
            </a:r>
            <a:r>
              <a:rPr lang="en-US" dirty="0"/>
              <a:t> </a:t>
            </a:r>
            <a:r>
              <a:rPr lang="en-US" dirty="0" err="1"/>
              <a:t>na</a:t>
            </a:r>
            <a:r>
              <a:rPr lang="en-US" dirty="0"/>
              <a:t> hype </a:t>
            </a:r>
            <a:r>
              <a:rPr lang="en-US" dirty="0" err="1"/>
              <a:t>na</a:t>
            </a:r>
            <a:r>
              <a:rPr lang="en-US" dirty="0"/>
              <a:t> </a:t>
            </a:r>
            <a:r>
              <a:rPr lang="en-US" dirty="0" err="1"/>
              <a:t>yun</a:t>
            </a:r>
            <a:r>
              <a:rPr lang="en-US" dirty="0"/>
              <a:t> </a:t>
            </a:r>
            <a:r>
              <a:rPr lang="en-US" dirty="0" err="1"/>
              <a:t>isang</a:t>
            </a:r>
            <a:r>
              <a:rPr lang="en-US" dirty="0"/>
              <a:t> </a:t>
            </a:r>
            <a:r>
              <a:rPr lang="en-US" dirty="0" err="1"/>
              <a:t>ofw</a:t>
            </a:r>
            <a:r>
              <a:rPr lang="en-US" dirty="0"/>
              <a:t>, </a:t>
            </a:r>
            <a:r>
              <a:rPr lang="en-US" dirty="0" err="1"/>
              <a:t>inaambisyo</a:t>
            </a:r>
            <a:r>
              <a:rPr lang="en-US" dirty="0"/>
              <a:t> </a:t>
            </a:r>
            <a:r>
              <a:rPr lang="en-US" dirty="0" err="1"/>
              <a:t>rin</a:t>
            </a:r>
            <a:r>
              <a:rPr lang="en-US" dirty="0"/>
              <a:t> </a:t>
            </a:r>
            <a:r>
              <a:rPr lang="en-US" dirty="0" err="1"/>
              <a:t>nya</a:t>
            </a:r>
            <a:r>
              <a:rPr lang="en-US" dirty="0"/>
              <a:t> </a:t>
            </a:r>
            <a:r>
              <a:rPr lang="en-US" dirty="0" err="1"/>
              <a:t>na</a:t>
            </a:r>
            <a:r>
              <a:rPr lang="en-US" dirty="0"/>
              <a:t> </a:t>
            </a:r>
            <a:r>
              <a:rPr lang="en-US" dirty="0" err="1"/>
              <a:t>maka</a:t>
            </a:r>
            <a:r>
              <a:rPr lang="en-US" dirty="0"/>
              <a:t> bagger </a:t>
            </a:r>
            <a:r>
              <a:rPr lang="en-US" dirty="0" err="1"/>
              <a:t>rin</a:t>
            </a:r>
            <a:r>
              <a:rPr lang="en-US" dirty="0"/>
              <a:t> </a:t>
            </a:r>
            <a:r>
              <a:rPr lang="en-US" dirty="0" err="1"/>
              <a:t>sya</a:t>
            </a:r>
            <a:r>
              <a:rPr lang="en-US" dirty="0"/>
              <a:t>. in short </a:t>
            </a:r>
            <a:r>
              <a:rPr lang="en-US" dirty="0" err="1"/>
              <a:t>yun</a:t>
            </a:r>
            <a:r>
              <a:rPr lang="en-US" dirty="0"/>
              <a:t> </a:t>
            </a:r>
            <a:r>
              <a:rPr lang="en-US" dirty="0" err="1"/>
              <a:t>inaakala</a:t>
            </a:r>
            <a:r>
              <a:rPr lang="en-US" dirty="0"/>
              <a:t> </a:t>
            </a:r>
            <a:r>
              <a:rPr lang="en-US" dirty="0" err="1"/>
              <a:t>ng</a:t>
            </a:r>
            <a:r>
              <a:rPr lang="en-US" dirty="0"/>
              <a:t> </a:t>
            </a:r>
            <a:r>
              <a:rPr lang="en-US" dirty="0" err="1"/>
              <a:t>marami</a:t>
            </a:r>
            <a:r>
              <a:rPr lang="en-US" dirty="0"/>
              <a:t> </a:t>
            </a:r>
            <a:r>
              <a:rPr lang="en-US" dirty="0" err="1"/>
              <a:t>na</a:t>
            </a:r>
            <a:r>
              <a:rPr lang="en-US" dirty="0"/>
              <a:t> </a:t>
            </a:r>
            <a:r>
              <a:rPr lang="en-US" dirty="0" err="1"/>
              <a:t>yun</a:t>
            </a:r>
            <a:r>
              <a:rPr lang="en-US" dirty="0"/>
              <a:t> stock market </a:t>
            </a:r>
            <a:r>
              <a:rPr lang="en-US" dirty="0" err="1"/>
              <a:t>ang</a:t>
            </a:r>
            <a:r>
              <a:rPr lang="en-US" dirty="0"/>
              <a:t> </a:t>
            </a:r>
            <a:r>
              <a:rPr lang="en-US" dirty="0" err="1"/>
              <a:t>magiging</a:t>
            </a:r>
            <a:r>
              <a:rPr lang="en-US" dirty="0"/>
              <a:t> ticket to way home </a:t>
            </a:r>
            <a:r>
              <a:rPr lang="en-US" dirty="0" err="1"/>
              <a:t>nila</a:t>
            </a:r>
            <a:r>
              <a:rPr lang="en-US" dirty="0"/>
              <a:t>.. until the reverse happened at </a:t>
            </a:r>
            <a:r>
              <a:rPr lang="en-US" dirty="0" err="1"/>
              <a:t>na</a:t>
            </a:r>
            <a:r>
              <a:rPr lang="en-US" dirty="0"/>
              <a:t> stuck </a:t>
            </a:r>
            <a:r>
              <a:rPr lang="en-US" dirty="0" err="1"/>
              <a:t>yun</a:t>
            </a:r>
            <a:r>
              <a:rPr lang="en-US" dirty="0"/>
              <a:t> </a:t>
            </a:r>
            <a:r>
              <a:rPr lang="en-US" dirty="0" err="1"/>
              <a:t>puhunan</a:t>
            </a:r>
            <a:r>
              <a:rPr lang="en-US" dirty="0"/>
              <a:t>. di </a:t>
            </a:r>
            <a:r>
              <a:rPr lang="en-US" dirty="0" err="1"/>
              <a:t>na</a:t>
            </a:r>
            <a:r>
              <a:rPr lang="en-US" dirty="0"/>
              <a:t> </a:t>
            </a:r>
            <a:r>
              <a:rPr lang="en-US" dirty="0" err="1"/>
              <a:t>po</a:t>
            </a:r>
            <a:r>
              <a:rPr lang="en-US" dirty="0"/>
              <a:t> </a:t>
            </a:r>
            <a:r>
              <a:rPr lang="en-US" dirty="0" err="1"/>
              <a:t>bago</a:t>
            </a:r>
            <a:r>
              <a:rPr lang="en-US" dirty="0"/>
              <a:t> tong </a:t>
            </a:r>
            <a:r>
              <a:rPr lang="en-US" dirty="0" err="1"/>
              <a:t>parabolics</a:t>
            </a:r>
            <a:r>
              <a:rPr lang="en-US" dirty="0"/>
              <a:t> and </a:t>
            </a:r>
            <a:r>
              <a:rPr lang="en-US" dirty="0" err="1"/>
              <a:t>ive</a:t>
            </a:r>
            <a:r>
              <a:rPr lang="en-US" dirty="0"/>
              <a:t> been sharing this </a:t>
            </a:r>
            <a:r>
              <a:rPr lang="en-US" dirty="0" err="1"/>
              <a:t>ng</a:t>
            </a:r>
            <a:r>
              <a:rPr lang="en-US" dirty="0"/>
              <a:t> </a:t>
            </a:r>
            <a:r>
              <a:rPr lang="en-US" dirty="0" err="1"/>
              <a:t>libre</a:t>
            </a:r>
            <a:r>
              <a:rPr lang="en-US" dirty="0"/>
              <a:t>.. </a:t>
            </a:r>
            <a:r>
              <a:rPr lang="en-US" dirty="0" err="1"/>
              <a:t>pero</a:t>
            </a:r>
            <a:r>
              <a:rPr lang="en-US" dirty="0"/>
              <a:t> </a:t>
            </a:r>
            <a:r>
              <a:rPr lang="en-US" dirty="0" err="1"/>
              <a:t>sadyang</a:t>
            </a:r>
            <a:r>
              <a:rPr lang="en-US" dirty="0"/>
              <a:t> </a:t>
            </a:r>
            <a:r>
              <a:rPr lang="en-US" dirty="0" err="1"/>
              <a:t>kokonti</a:t>
            </a:r>
            <a:r>
              <a:rPr lang="en-US" dirty="0"/>
              <a:t> </a:t>
            </a:r>
            <a:r>
              <a:rPr lang="en-US" dirty="0" err="1"/>
              <a:t>lang</a:t>
            </a:r>
            <a:r>
              <a:rPr lang="en-US" dirty="0"/>
              <a:t> </a:t>
            </a:r>
            <a:r>
              <a:rPr lang="en-US" dirty="0" err="1"/>
              <a:t>talaga</a:t>
            </a:r>
            <a:r>
              <a:rPr lang="en-US" dirty="0"/>
              <a:t> </a:t>
            </a:r>
            <a:r>
              <a:rPr lang="en-US" dirty="0" err="1"/>
              <a:t>ang</a:t>
            </a:r>
            <a:r>
              <a:rPr lang="en-US" dirty="0"/>
              <a:t> </a:t>
            </a:r>
            <a:r>
              <a:rPr lang="en-US" dirty="0" err="1"/>
              <a:t>interesado</a:t>
            </a:r>
            <a:r>
              <a:rPr lang="en-US" dirty="0"/>
              <a:t>, or di </a:t>
            </a:r>
            <a:r>
              <a:rPr lang="en-US" dirty="0" err="1"/>
              <a:t>patok</a:t>
            </a:r>
            <a:r>
              <a:rPr lang="en-US" dirty="0"/>
              <a:t> lang.. </a:t>
            </a:r>
            <a:r>
              <a:rPr lang="en-US" dirty="0" err="1"/>
              <a:t>kahit</a:t>
            </a:r>
            <a:r>
              <a:rPr lang="en-US" dirty="0"/>
              <a:t> </a:t>
            </a:r>
            <a:r>
              <a:rPr lang="en-US" dirty="0" err="1"/>
              <a:t>yun</a:t>
            </a:r>
            <a:r>
              <a:rPr lang="en-US" dirty="0"/>
              <a:t> </a:t>
            </a:r>
            <a:r>
              <a:rPr lang="en-US" dirty="0" err="1"/>
              <a:t>mga</a:t>
            </a:r>
            <a:r>
              <a:rPr lang="en-US" dirty="0"/>
              <a:t> </a:t>
            </a:r>
            <a:r>
              <a:rPr lang="en-US" dirty="0" err="1"/>
              <a:t>turo</a:t>
            </a:r>
            <a:r>
              <a:rPr lang="en-US" dirty="0"/>
              <a:t> </a:t>
            </a:r>
            <a:r>
              <a:rPr lang="en-US" dirty="0" err="1"/>
              <a:t>ni</a:t>
            </a:r>
            <a:r>
              <a:rPr lang="en-US" dirty="0"/>
              <a:t> senor </a:t>
            </a:r>
            <a:r>
              <a:rPr lang="en-US" dirty="0" err="1"/>
              <a:t>fred</a:t>
            </a:r>
            <a:r>
              <a:rPr lang="en-US" dirty="0"/>
              <a:t> (the responsible trader), </a:t>
            </a:r>
            <a:r>
              <a:rPr lang="en-US" dirty="0" err="1"/>
              <a:t>ewan</a:t>
            </a:r>
            <a:r>
              <a:rPr lang="en-US" dirty="0"/>
              <a:t>, </a:t>
            </a:r>
            <a:r>
              <a:rPr lang="en-US" dirty="0" err="1"/>
              <a:t>sobrang</a:t>
            </a:r>
            <a:r>
              <a:rPr lang="en-US" dirty="0"/>
              <a:t> </a:t>
            </a:r>
            <a:r>
              <a:rPr lang="en-US" dirty="0" err="1"/>
              <a:t>ganda</a:t>
            </a:r>
            <a:r>
              <a:rPr lang="en-US" dirty="0"/>
              <a:t> nun </a:t>
            </a:r>
            <a:r>
              <a:rPr lang="en-US" dirty="0" err="1"/>
              <a:t>pero</a:t>
            </a:r>
            <a:r>
              <a:rPr lang="en-US" dirty="0"/>
              <a:t> </a:t>
            </a:r>
            <a:r>
              <a:rPr lang="en-US" dirty="0" err="1"/>
              <a:t>kahit</a:t>
            </a:r>
            <a:r>
              <a:rPr lang="en-US" dirty="0"/>
              <a:t> </a:t>
            </a:r>
            <a:r>
              <a:rPr lang="en-US" dirty="0" err="1"/>
              <a:t>yun</a:t>
            </a:r>
            <a:r>
              <a:rPr lang="en-US" dirty="0"/>
              <a:t> </a:t>
            </a:r>
            <a:r>
              <a:rPr lang="en-US" dirty="0" err="1"/>
              <a:t>mga</a:t>
            </a:r>
            <a:r>
              <a:rPr lang="en-US" dirty="0"/>
              <a:t> post </a:t>
            </a:r>
            <a:r>
              <a:rPr lang="en-US" dirty="0" err="1"/>
              <a:t>nya</a:t>
            </a:r>
            <a:r>
              <a:rPr lang="en-US" dirty="0"/>
              <a:t> ay rarely got the likes.. same </a:t>
            </a:r>
            <a:r>
              <a:rPr lang="en-US" dirty="0" err="1"/>
              <a:t>rin</a:t>
            </a:r>
            <a:r>
              <a:rPr lang="en-US" dirty="0"/>
              <a:t> </a:t>
            </a:r>
            <a:r>
              <a:rPr lang="en-US" dirty="0" err="1"/>
              <a:t>sa</a:t>
            </a:r>
            <a:r>
              <a:rPr lang="en-US" dirty="0"/>
              <a:t> </a:t>
            </a:r>
            <a:r>
              <a:rPr lang="en-US" dirty="0" err="1"/>
              <a:t>mga</a:t>
            </a:r>
            <a:r>
              <a:rPr lang="en-US" dirty="0"/>
              <a:t> </a:t>
            </a:r>
            <a:r>
              <a:rPr lang="en-US" dirty="0" err="1"/>
              <a:t>kasama</a:t>
            </a:r>
            <a:r>
              <a:rPr lang="en-US" dirty="0"/>
              <a:t> </a:t>
            </a:r>
            <a:r>
              <a:rPr lang="en-US" dirty="0" err="1"/>
              <a:t>ko</a:t>
            </a:r>
            <a:r>
              <a:rPr lang="en-US" dirty="0"/>
              <a:t> </a:t>
            </a:r>
            <a:r>
              <a:rPr lang="en-US" dirty="0" err="1"/>
              <a:t>sa</a:t>
            </a:r>
            <a:r>
              <a:rPr lang="en-US" dirty="0"/>
              <a:t> </a:t>
            </a:r>
            <a:r>
              <a:rPr lang="en-US" dirty="0" err="1"/>
              <a:t>boh</a:t>
            </a:r>
            <a:r>
              <a:rPr lang="en-US" dirty="0"/>
              <a:t> .. </a:t>
            </a:r>
            <a:r>
              <a:rPr lang="en-US" dirty="0" err="1"/>
              <a:t>yun</a:t>
            </a:r>
            <a:r>
              <a:rPr lang="en-US" dirty="0"/>
              <a:t> </a:t>
            </a:r>
            <a:r>
              <a:rPr lang="en-US" dirty="0" err="1"/>
              <a:t>algos</a:t>
            </a:r>
            <a:r>
              <a:rPr lang="en-US" dirty="0"/>
              <a:t> dun, the </a:t>
            </a:r>
            <a:r>
              <a:rPr lang="en-US" dirty="0" err="1"/>
              <a:t>blackbox</a:t>
            </a:r>
            <a:r>
              <a:rPr lang="en-US" dirty="0"/>
              <a:t>, </a:t>
            </a:r>
            <a:r>
              <a:rPr lang="en-US" dirty="0" err="1"/>
              <a:t>mga</a:t>
            </a:r>
            <a:r>
              <a:rPr lang="en-US" dirty="0"/>
              <a:t> parameters, it's a new universe kung </a:t>
            </a:r>
            <a:r>
              <a:rPr lang="en-US" dirty="0" err="1"/>
              <a:t>baga</a:t>
            </a:r>
            <a:r>
              <a:rPr lang="en-US" dirty="0"/>
              <a:t> </a:t>
            </a:r>
            <a:r>
              <a:rPr lang="en-US" dirty="0" err="1"/>
              <a:t>pero</a:t>
            </a:r>
            <a:r>
              <a:rPr lang="en-US" dirty="0"/>
              <a:t> </a:t>
            </a:r>
            <a:r>
              <a:rPr lang="en-US" dirty="0" err="1"/>
              <a:t>kapag</a:t>
            </a:r>
            <a:r>
              <a:rPr lang="en-US" dirty="0"/>
              <a:t> </a:t>
            </a:r>
            <a:r>
              <a:rPr lang="en-US" dirty="0" err="1"/>
              <a:t>ng</a:t>
            </a:r>
            <a:r>
              <a:rPr lang="en-US" dirty="0"/>
              <a:t> focus </a:t>
            </a:r>
            <a:r>
              <a:rPr lang="en-US" dirty="0" err="1"/>
              <a:t>na</a:t>
            </a:r>
            <a:r>
              <a:rPr lang="en-US" dirty="0"/>
              <a:t> </a:t>
            </a:r>
            <a:r>
              <a:rPr lang="en-US" dirty="0" err="1"/>
              <a:t>ang</a:t>
            </a:r>
            <a:r>
              <a:rPr lang="en-US" dirty="0"/>
              <a:t> </a:t>
            </a:r>
            <a:r>
              <a:rPr lang="en-US" dirty="0" err="1"/>
              <a:t>isang</a:t>
            </a:r>
            <a:r>
              <a:rPr lang="en-US" dirty="0"/>
              <a:t> investor </a:t>
            </a:r>
            <a:r>
              <a:rPr lang="en-US" dirty="0" err="1"/>
              <a:t>sa</a:t>
            </a:r>
            <a:r>
              <a:rPr lang="en-US" dirty="0"/>
              <a:t> process, </a:t>
            </a:r>
            <a:r>
              <a:rPr lang="en-US" dirty="0" err="1"/>
              <a:t>talaga</a:t>
            </a:r>
            <a:r>
              <a:rPr lang="en-US" dirty="0"/>
              <a:t> ma prove </a:t>
            </a:r>
            <a:r>
              <a:rPr lang="en-US" dirty="0" err="1"/>
              <a:t>mo</a:t>
            </a:r>
            <a:r>
              <a:rPr lang="en-US" dirty="0"/>
              <a:t> </a:t>
            </a:r>
            <a:r>
              <a:rPr lang="en-US" dirty="0" err="1"/>
              <a:t>sa</a:t>
            </a:r>
            <a:r>
              <a:rPr lang="en-US" dirty="0"/>
              <a:t> </a:t>
            </a:r>
            <a:r>
              <a:rPr lang="en-US" dirty="0" err="1"/>
              <a:t>sarili</a:t>
            </a:r>
            <a:r>
              <a:rPr lang="en-US" dirty="0"/>
              <a:t> </a:t>
            </a:r>
            <a:r>
              <a:rPr lang="en-US" dirty="0" err="1"/>
              <a:t>mo</a:t>
            </a:r>
            <a:r>
              <a:rPr lang="en-US" dirty="0"/>
              <a:t> </a:t>
            </a:r>
            <a:r>
              <a:rPr lang="en-US" dirty="0" err="1"/>
              <a:t>na</a:t>
            </a:r>
            <a:r>
              <a:rPr lang="en-US" dirty="0"/>
              <a:t> mag improved greatly </a:t>
            </a:r>
            <a:r>
              <a:rPr lang="en-US" dirty="0" err="1"/>
              <a:t>yun</a:t>
            </a:r>
            <a:r>
              <a:rPr lang="en-US" dirty="0"/>
              <a:t> trading discipline and consistency mo. </a:t>
            </a:r>
            <a:r>
              <a:rPr lang="en-US" dirty="0" err="1"/>
              <a:t>nadaanan</a:t>
            </a:r>
            <a:r>
              <a:rPr lang="en-US" dirty="0"/>
              <a:t> </a:t>
            </a:r>
            <a:r>
              <a:rPr lang="en-US" dirty="0" err="1"/>
              <a:t>ko</a:t>
            </a:r>
            <a:r>
              <a:rPr lang="en-US" dirty="0"/>
              <a:t> </a:t>
            </a:r>
            <a:r>
              <a:rPr lang="en-US" dirty="0" err="1"/>
              <a:t>yun</a:t>
            </a:r>
            <a:r>
              <a:rPr lang="en-US" dirty="0"/>
              <a:t> </a:t>
            </a:r>
            <a:r>
              <a:rPr lang="en-US" dirty="0" err="1"/>
              <a:t>libre</a:t>
            </a:r>
            <a:r>
              <a:rPr lang="en-US" dirty="0"/>
              <a:t> for 20yrs, </a:t>
            </a:r>
            <a:r>
              <a:rPr lang="en-US" dirty="0" err="1"/>
              <a:t>kaso</a:t>
            </a:r>
            <a:r>
              <a:rPr lang="en-US" dirty="0"/>
              <a:t>, </a:t>
            </a:r>
            <a:r>
              <a:rPr lang="en-US" dirty="0" err="1"/>
              <a:t>yun</a:t>
            </a:r>
            <a:r>
              <a:rPr lang="en-US" dirty="0"/>
              <a:t> </a:t>
            </a:r>
            <a:r>
              <a:rPr lang="en-US" dirty="0" err="1"/>
              <a:t>nga</a:t>
            </a:r>
            <a:r>
              <a:rPr lang="en-US" dirty="0"/>
              <a:t> </a:t>
            </a:r>
            <a:r>
              <a:rPr lang="en-US" dirty="0" err="1"/>
              <a:t>lang</a:t>
            </a:r>
            <a:r>
              <a:rPr lang="en-US" dirty="0"/>
              <a:t>, di </a:t>
            </a:r>
            <a:r>
              <a:rPr lang="en-US" dirty="0" err="1"/>
              <a:t>ka</a:t>
            </a:r>
            <a:r>
              <a:rPr lang="en-US" dirty="0"/>
              <a:t> </a:t>
            </a:r>
            <a:r>
              <a:rPr lang="en-US" dirty="0" err="1"/>
              <a:t>seseryosohin</a:t>
            </a:r>
            <a:r>
              <a:rPr lang="en-US" dirty="0"/>
              <a:t>, come and go </a:t>
            </a:r>
            <a:r>
              <a:rPr lang="en-US" dirty="0" err="1"/>
              <a:t>lang</a:t>
            </a:r>
            <a:r>
              <a:rPr lang="en-US" dirty="0"/>
              <a:t> </a:t>
            </a:r>
            <a:r>
              <a:rPr lang="en-US" dirty="0" err="1"/>
              <a:t>ang</a:t>
            </a:r>
            <a:r>
              <a:rPr lang="en-US" dirty="0"/>
              <a:t> peg, </a:t>
            </a:r>
            <a:r>
              <a:rPr lang="en-US" dirty="0" err="1"/>
              <a:t>sa</a:t>
            </a:r>
            <a:r>
              <a:rPr lang="en-US" dirty="0"/>
              <a:t> </a:t>
            </a:r>
            <a:r>
              <a:rPr lang="en-US" dirty="0" err="1"/>
              <a:t>umpisa</a:t>
            </a:r>
            <a:r>
              <a:rPr lang="en-US" dirty="0"/>
              <a:t> </a:t>
            </a:r>
            <a:r>
              <a:rPr lang="en-US" dirty="0" err="1"/>
              <a:t>lang</a:t>
            </a:r>
            <a:r>
              <a:rPr lang="en-US" dirty="0"/>
              <a:t> </a:t>
            </a:r>
            <a:r>
              <a:rPr lang="en-US" dirty="0" err="1"/>
              <a:t>ang</a:t>
            </a:r>
            <a:r>
              <a:rPr lang="en-US" dirty="0"/>
              <a:t> urge, </a:t>
            </a:r>
            <a:r>
              <a:rPr lang="en-US" dirty="0" err="1"/>
              <a:t>ningas</a:t>
            </a:r>
            <a:r>
              <a:rPr lang="en-US" dirty="0"/>
              <a:t> cogon lang. </a:t>
            </a:r>
            <a:r>
              <a:rPr lang="en-US" dirty="0" err="1"/>
              <a:t>pero</a:t>
            </a:r>
            <a:r>
              <a:rPr lang="en-US" dirty="0"/>
              <a:t> kung may </a:t>
            </a:r>
            <a:r>
              <a:rPr lang="en-US" dirty="0" err="1"/>
              <a:t>bayad</a:t>
            </a:r>
            <a:r>
              <a:rPr lang="en-US" dirty="0"/>
              <a:t>, </a:t>
            </a:r>
            <a:r>
              <a:rPr lang="en-US" dirty="0" err="1"/>
              <a:t>seseryosohin</a:t>
            </a:r>
            <a:r>
              <a:rPr lang="en-US" dirty="0"/>
              <a:t> </a:t>
            </a:r>
            <a:r>
              <a:rPr lang="en-US" dirty="0" err="1"/>
              <a:t>ka</a:t>
            </a:r>
            <a:r>
              <a:rPr lang="en-US" dirty="0"/>
              <a:t>, </a:t>
            </a:r>
            <a:r>
              <a:rPr lang="en-US" dirty="0" err="1"/>
              <a:t>susulitin</a:t>
            </a:r>
            <a:r>
              <a:rPr lang="en-US" dirty="0"/>
              <a:t> </a:t>
            </a:r>
            <a:r>
              <a:rPr lang="en-US" dirty="0" err="1"/>
              <a:t>yun</a:t>
            </a:r>
            <a:r>
              <a:rPr lang="en-US" dirty="0"/>
              <a:t> gusto </a:t>
            </a:r>
            <a:r>
              <a:rPr lang="en-US" dirty="0" err="1"/>
              <a:t>nilang</a:t>
            </a:r>
            <a:r>
              <a:rPr lang="en-US" dirty="0"/>
              <a:t> </a:t>
            </a:r>
            <a:r>
              <a:rPr lang="en-US" dirty="0" err="1"/>
              <a:t>matutunan</a:t>
            </a:r>
            <a:r>
              <a:rPr lang="en-US" dirty="0"/>
              <a:t>, </a:t>
            </a:r>
            <a:r>
              <a:rPr lang="en-US" dirty="0" err="1"/>
              <a:t>wala</a:t>
            </a:r>
            <a:r>
              <a:rPr lang="en-US" dirty="0"/>
              <a:t> </a:t>
            </a:r>
            <a:r>
              <a:rPr lang="en-US" dirty="0" err="1"/>
              <a:t>ng</a:t>
            </a:r>
            <a:r>
              <a:rPr lang="en-US" dirty="0"/>
              <a:t> next time next time, </a:t>
            </a:r>
            <a:r>
              <a:rPr lang="en-US" dirty="0" err="1"/>
              <a:t>kasi</a:t>
            </a:r>
            <a:r>
              <a:rPr lang="en-US" dirty="0"/>
              <a:t> may </a:t>
            </a:r>
            <a:r>
              <a:rPr lang="en-US" dirty="0" err="1"/>
              <a:t>bayad</a:t>
            </a:r>
            <a:r>
              <a:rPr lang="en-US" dirty="0"/>
              <a:t>, may subscription. </a:t>
            </a:r>
            <a:r>
              <a:rPr lang="en-US" dirty="0" err="1"/>
              <a:t>nasa</a:t>
            </a:r>
            <a:r>
              <a:rPr lang="en-US" dirty="0"/>
              <a:t> mentality </a:t>
            </a:r>
            <a:r>
              <a:rPr lang="en-US" dirty="0" err="1"/>
              <a:t>na</a:t>
            </a:r>
            <a:r>
              <a:rPr lang="en-US" dirty="0"/>
              <a:t> </a:t>
            </a:r>
            <a:r>
              <a:rPr lang="en-US" dirty="0" err="1"/>
              <a:t>ng</a:t>
            </a:r>
            <a:r>
              <a:rPr lang="en-US" dirty="0"/>
              <a:t> trader </a:t>
            </a:r>
            <a:r>
              <a:rPr lang="en-US" dirty="0" err="1"/>
              <a:t>yan</a:t>
            </a:r>
            <a:r>
              <a:rPr lang="en-US" dirty="0"/>
              <a:t>, </a:t>
            </a:r>
            <a:r>
              <a:rPr lang="en-US" dirty="0" err="1"/>
              <a:t>kahit</a:t>
            </a:r>
            <a:r>
              <a:rPr lang="en-US" dirty="0"/>
              <a:t> </a:t>
            </a:r>
            <a:r>
              <a:rPr lang="en-US" dirty="0" err="1"/>
              <a:t>ilang</a:t>
            </a:r>
            <a:r>
              <a:rPr lang="en-US" dirty="0"/>
              <a:t> freebies pa kung </a:t>
            </a:r>
            <a:r>
              <a:rPr lang="en-US" dirty="0" err="1"/>
              <a:t>walang</a:t>
            </a:r>
            <a:r>
              <a:rPr lang="en-US" dirty="0"/>
              <a:t> passion </a:t>
            </a:r>
            <a:r>
              <a:rPr lang="en-US" dirty="0" err="1"/>
              <a:t>talaga</a:t>
            </a:r>
            <a:r>
              <a:rPr lang="en-US" dirty="0"/>
              <a:t> </a:t>
            </a:r>
            <a:r>
              <a:rPr lang="en-US" dirty="0" err="1"/>
              <a:t>na</a:t>
            </a:r>
            <a:r>
              <a:rPr lang="en-US" dirty="0"/>
              <a:t> </a:t>
            </a:r>
            <a:r>
              <a:rPr lang="en-US" dirty="0" err="1"/>
              <a:t>matuto</a:t>
            </a:r>
            <a:r>
              <a:rPr lang="en-US" dirty="0"/>
              <a:t>, </a:t>
            </a:r>
            <a:r>
              <a:rPr lang="en-US" dirty="0" err="1"/>
              <a:t>olats</a:t>
            </a:r>
            <a:r>
              <a:rPr lang="en-US" dirty="0"/>
              <a:t> pa </a:t>
            </a:r>
            <a:r>
              <a:rPr lang="en-US" dirty="0" err="1"/>
              <a:t>rin</a:t>
            </a:r>
            <a:r>
              <a:rPr lang="en-US" dirty="0"/>
              <a:t>.</a:t>
            </a:r>
          </a:p>
        </p:txBody>
      </p:sp>
    </p:spTree>
    <p:extLst>
      <p:ext uri="{BB962C8B-B14F-4D97-AF65-F5344CB8AC3E}">
        <p14:creationId xmlns:p14="http://schemas.microsoft.com/office/powerpoint/2010/main" val="4061689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315A187F-6F60-4B39-8EE0-CCBE6F0BF439}"/>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PARABURST EXCEPTION: GOLDEN BRIA HOLDINGS</a:t>
            </a:r>
          </a:p>
        </p:txBody>
      </p:sp>
      <p:sp>
        <p:nvSpPr>
          <p:cNvPr id="2" name="Rectangle 1"/>
          <p:cNvSpPr/>
          <p:nvPr/>
        </p:nvSpPr>
        <p:spPr>
          <a:xfrm>
            <a:off x="1256232" y="1196411"/>
            <a:ext cx="9075633" cy="4247317"/>
          </a:xfrm>
          <a:prstGeom prst="rect">
            <a:avLst/>
          </a:prstGeom>
        </p:spPr>
        <p:txBody>
          <a:bodyPr wrap="square">
            <a:spAutoFit/>
          </a:bodyPr>
          <a:lstStyle/>
          <a:p>
            <a:r>
              <a:rPr lang="en-US" dirty="0" err="1"/>
              <a:t>nabubuo</a:t>
            </a:r>
            <a:r>
              <a:rPr lang="en-US" dirty="0"/>
              <a:t> </a:t>
            </a:r>
            <a:r>
              <a:rPr lang="en-US" dirty="0" err="1"/>
              <a:t>ang</a:t>
            </a:r>
            <a:r>
              <a:rPr lang="en-US" dirty="0"/>
              <a:t> </a:t>
            </a:r>
            <a:r>
              <a:rPr lang="en-US" dirty="0" err="1"/>
              <a:t>burj</a:t>
            </a:r>
            <a:r>
              <a:rPr lang="en-US" dirty="0"/>
              <a:t> </a:t>
            </a:r>
            <a:r>
              <a:rPr lang="en-US" dirty="0" err="1"/>
              <a:t>khalifa</a:t>
            </a:r>
            <a:r>
              <a:rPr lang="en-US" dirty="0"/>
              <a:t> </a:t>
            </a:r>
            <a:r>
              <a:rPr lang="en-US" dirty="0" err="1"/>
              <a:t>dahil</a:t>
            </a:r>
            <a:r>
              <a:rPr lang="en-US" dirty="0"/>
              <a:t> </a:t>
            </a:r>
            <a:r>
              <a:rPr lang="en-US" dirty="0" err="1"/>
              <a:t>naging</a:t>
            </a:r>
            <a:r>
              <a:rPr lang="en-US" dirty="0"/>
              <a:t> parabolic to </a:t>
            </a:r>
            <a:r>
              <a:rPr lang="en-US" dirty="0" err="1"/>
              <a:t>na</a:t>
            </a:r>
            <a:r>
              <a:rPr lang="en-US" dirty="0"/>
              <a:t> kung </a:t>
            </a:r>
            <a:r>
              <a:rPr lang="en-US" dirty="0" err="1"/>
              <a:t>saan</a:t>
            </a:r>
            <a:r>
              <a:rPr lang="en-US" dirty="0"/>
              <a:t> </a:t>
            </a:r>
            <a:r>
              <a:rPr lang="en-US" dirty="0" err="1"/>
              <a:t>kapag</a:t>
            </a:r>
            <a:r>
              <a:rPr lang="en-US" dirty="0"/>
              <a:t> </a:t>
            </a:r>
            <a:r>
              <a:rPr lang="en-US" dirty="0" err="1"/>
              <a:t>nasa</a:t>
            </a:r>
            <a:r>
              <a:rPr lang="en-US" dirty="0"/>
              <a:t> parabolic state </a:t>
            </a:r>
            <a:r>
              <a:rPr lang="en-US" dirty="0" err="1"/>
              <a:t>na</a:t>
            </a:r>
            <a:r>
              <a:rPr lang="en-US" dirty="0"/>
              <a:t> ay </a:t>
            </a:r>
            <a:r>
              <a:rPr lang="en-US" dirty="0" err="1"/>
              <a:t>walang</a:t>
            </a:r>
            <a:r>
              <a:rPr lang="en-US" dirty="0"/>
              <a:t> overbought condition </a:t>
            </a:r>
            <a:r>
              <a:rPr lang="en-US" dirty="0" err="1"/>
              <a:t>dahil</a:t>
            </a:r>
            <a:r>
              <a:rPr lang="en-US" dirty="0"/>
              <a:t> parabolic lives in a high </a:t>
            </a:r>
            <a:r>
              <a:rPr lang="en-US" dirty="0" err="1"/>
              <a:t>rsi</a:t>
            </a:r>
            <a:r>
              <a:rPr lang="en-US" dirty="0"/>
              <a:t> environment. </a:t>
            </a:r>
            <a:r>
              <a:rPr lang="en-US" dirty="0" err="1"/>
              <a:t>pero</a:t>
            </a:r>
            <a:r>
              <a:rPr lang="en-US" dirty="0"/>
              <a:t> </a:t>
            </a:r>
            <a:r>
              <a:rPr lang="en-US" dirty="0" err="1"/>
              <a:t>sa</a:t>
            </a:r>
            <a:r>
              <a:rPr lang="en-US" dirty="0"/>
              <a:t> </a:t>
            </a:r>
            <a:r>
              <a:rPr lang="en-US" dirty="0" err="1"/>
              <a:t>mga</a:t>
            </a:r>
            <a:r>
              <a:rPr lang="en-US" dirty="0"/>
              <a:t> </a:t>
            </a:r>
            <a:r>
              <a:rPr lang="en-US" dirty="0" err="1"/>
              <a:t>nagdaan</a:t>
            </a:r>
            <a:r>
              <a:rPr lang="en-US" dirty="0"/>
              <a:t> </a:t>
            </a:r>
            <a:r>
              <a:rPr lang="en-US" dirty="0" err="1"/>
              <a:t>na</a:t>
            </a:r>
            <a:r>
              <a:rPr lang="en-US" dirty="0"/>
              <a:t> </a:t>
            </a:r>
            <a:r>
              <a:rPr lang="en-US" dirty="0" err="1"/>
              <a:t>ganitong</a:t>
            </a:r>
            <a:r>
              <a:rPr lang="en-US" dirty="0"/>
              <a:t> </a:t>
            </a:r>
            <a:r>
              <a:rPr lang="en-US" dirty="0" err="1"/>
              <a:t>laro</a:t>
            </a:r>
            <a:r>
              <a:rPr lang="en-US" dirty="0"/>
              <a:t> at </a:t>
            </a:r>
            <a:r>
              <a:rPr lang="en-US" dirty="0" err="1"/>
              <a:t>marahil</a:t>
            </a:r>
            <a:r>
              <a:rPr lang="en-US" dirty="0"/>
              <a:t> </a:t>
            </a:r>
            <a:r>
              <a:rPr lang="en-US" dirty="0" err="1"/>
              <a:t>sa</a:t>
            </a:r>
            <a:r>
              <a:rPr lang="en-US" dirty="0"/>
              <a:t> </a:t>
            </a:r>
            <a:r>
              <a:rPr lang="en-US" dirty="0" err="1"/>
              <a:t>experensya</a:t>
            </a:r>
            <a:r>
              <a:rPr lang="en-US" dirty="0"/>
              <a:t> </a:t>
            </a:r>
            <a:r>
              <a:rPr lang="en-US" dirty="0" err="1"/>
              <a:t>na</a:t>
            </a:r>
            <a:r>
              <a:rPr lang="en-US" dirty="0"/>
              <a:t> </a:t>
            </a:r>
            <a:r>
              <a:rPr lang="en-US" dirty="0" err="1"/>
              <a:t>rin</a:t>
            </a:r>
            <a:r>
              <a:rPr lang="en-US" dirty="0"/>
              <a:t> (</a:t>
            </a:r>
            <a:r>
              <a:rPr lang="en-US" dirty="0" err="1"/>
              <a:t>maganda</a:t>
            </a:r>
            <a:r>
              <a:rPr lang="en-US" dirty="0"/>
              <a:t> at </a:t>
            </a:r>
            <a:r>
              <a:rPr lang="en-US" dirty="0" err="1"/>
              <a:t>pangit</a:t>
            </a:r>
            <a:r>
              <a:rPr lang="en-US" dirty="0"/>
              <a:t> man) ay may </a:t>
            </a:r>
            <a:r>
              <a:rPr lang="en-US" dirty="0" err="1"/>
              <a:t>bagay</a:t>
            </a:r>
            <a:r>
              <a:rPr lang="en-US" dirty="0"/>
              <a:t> </a:t>
            </a:r>
            <a:r>
              <a:rPr lang="en-US" dirty="0" err="1"/>
              <a:t>tayong</a:t>
            </a:r>
            <a:r>
              <a:rPr lang="en-US" dirty="0"/>
              <a:t> </a:t>
            </a:r>
            <a:r>
              <a:rPr lang="en-US" dirty="0" err="1"/>
              <a:t>napupuna</a:t>
            </a:r>
            <a:r>
              <a:rPr lang="en-US" dirty="0"/>
              <a:t> at </a:t>
            </a:r>
            <a:r>
              <a:rPr lang="en-US" dirty="0" err="1"/>
              <a:t>naihasa</a:t>
            </a:r>
            <a:r>
              <a:rPr lang="en-US" dirty="0"/>
              <a:t>. </a:t>
            </a:r>
            <a:r>
              <a:rPr lang="en-US" dirty="0" err="1"/>
              <a:t>para</a:t>
            </a:r>
            <a:r>
              <a:rPr lang="en-US" dirty="0"/>
              <a:t> ma gauge </a:t>
            </a:r>
            <a:r>
              <a:rPr lang="en-US" dirty="0" err="1"/>
              <a:t>ang</a:t>
            </a:r>
            <a:r>
              <a:rPr lang="en-US" dirty="0"/>
              <a:t> parabolic, </a:t>
            </a:r>
            <a:r>
              <a:rPr lang="en-US" dirty="0" err="1"/>
              <a:t>ng</a:t>
            </a:r>
            <a:r>
              <a:rPr lang="en-US" dirty="0"/>
              <a:t> </a:t>
            </a:r>
            <a:r>
              <a:rPr lang="en-US" dirty="0" err="1"/>
              <a:t>lagay</a:t>
            </a:r>
            <a:r>
              <a:rPr lang="en-US" dirty="0"/>
              <a:t> </a:t>
            </a:r>
            <a:r>
              <a:rPr lang="en-US" dirty="0" err="1"/>
              <a:t>tayp</a:t>
            </a:r>
            <a:r>
              <a:rPr lang="en-US" dirty="0"/>
              <a:t> </a:t>
            </a:r>
            <a:r>
              <a:rPr lang="en-US" dirty="0" err="1"/>
              <a:t>ng</a:t>
            </a:r>
            <a:r>
              <a:rPr lang="en-US" dirty="0"/>
              <a:t> risk guide, </a:t>
            </a:r>
            <a:r>
              <a:rPr lang="en-US" dirty="0" err="1"/>
              <a:t>eto</a:t>
            </a:r>
            <a:r>
              <a:rPr lang="en-US" dirty="0"/>
              <a:t> </a:t>
            </a:r>
            <a:r>
              <a:rPr lang="en-US" dirty="0" err="1"/>
              <a:t>yun</a:t>
            </a:r>
            <a:r>
              <a:rPr lang="en-US" dirty="0"/>
              <a:t> </a:t>
            </a:r>
            <a:r>
              <a:rPr lang="en-US" dirty="0" err="1"/>
              <a:t>phr</a:t>
            </a:r>
            <a:r>
              <a:rPr lang="en-US" dirty="0"/>
              <a:t> and </a:t>
            </a:r>
            <a:r>
              <a:rPr lang="en-US" dirty="0" err="1"/>
              <a:t>ephr</a:t>
            </a:r>
            <a:r>
              <a:rPr lang="en-US" dirty="0"/>
              <a:t> </a:t>
            </a:r>
            <a:r>
              <a:rPr lang="en-US" dirty="0" err="1"/>
              <a:t>na</a:t>
            </a:r>
            <a:r>
              <a:rPr lang="en-US" dirty="0"/>
              <a:t> kung </a:t>
            </a:r>
            <a:r>
              <a:rPr lang="en-US" dirty="0" err="1"/>
              <a:t>saan</a:t>
            </a:r>
            <a:r>
              <a:rPr lang="en-US" dirty="0"/>
              <a:t> </a:t>
            </a:r>
            <a:r>
              <a:rPr lang="en-US" dirty="0" err="1"/>
              <a:t>na</a:t>
            </a:r>
            <a:r>
              <a:rPr lang="en-US" dirty="0"/>
              <a:t> explain </a:t>
            </a:r>
            <a:r>
              <a:rPr lang="en-US" dirty="0" err="1"/>
              <a:t>natin</a:t>
            </a:r>
            <a:r>
              <a:rPr lang="en-US" dirty="0"/>
              <a:t> </a:t>
            </a:r>
            <a:r>
              <a:rPr lang="en-US" dirty="0" err="1"/>
              <a:t>sa</a:t>
            </a:r>
            <a:r>
              <a:rPr lang="en-US" dirty="0"/>
              <a:t> </a:t>
            </a:r>
            <a:r>
              <a:rPr lang="en-US" dirty="0" err="1"/>
              <a:t>mga</a:t>
            </a:r>
            <a:r>
              <a:rPr lang="en-US" dirty="0"/>
              <a:t> previous post. kung </a:t>
            </a:r>
            <a:r>
              <a:rPr lang="en-US" dirty="0" err="1"/>
              <a:t>ang</a:t>
            </a:r>
            <a:r>
              <a:rPr lang="en-US" dirty="0"/>
              <a:t> </a:t>
            </a:r>
            <a:r>
              <a:rPr lang="en-US" dirty="0" err="1"/>
              <a:t>isang</a:t>
            </a:r>
            <a:r>
              <a:rPr lang="en-US" dirty="0"/>
              <a:t> stock ay </a:t>
            </a:r>
            <a:r>
              <a:rPr lang="en-US" dirty="0" err="1"/>
              <a:t>ng</a:t>
            </a:r>
            <a:r>
              <a:rPr lang="en-US" dirty="0"/>
              <a:t> </a:t>
            </a:r>
            <a:r>
              <a:rPr lang="en-US" dirty="0" err="1"/>
              <a:t>ka</a:t>
            </a:r>
            <a:r>
              <a:rPr lang="en-US" dirty="0"/>
              <a:t> EPHR, </a:t>
            </a:r>
            <a:r>
              <a:rPr lang="en-US" dirty="0" err="1"/>
              <a:t>malaki</a:t>
            </a:r>
            <a:r>
              <a:rPr lang="en-US" dirty="0"/>
              <a:t> </a:t>
            </a:r>
            <a:r>
              <a:rPr lang="en-US" dirty="0" err="1"/>
              <a:t>ang</a:t>
            </a:r>
            <a:r>
              <a:rPr lang="en-US" dirty="0"/>
              <a:t> chance </a:t>
            </a:r>
            <a:r>
              <a:rPr lang="en-US" dirty="0" err="1"/>
              <a:t>nito</a:t>
            </a:r>
            <a:r>
              <a:rPr lang="en-US" dirty="0"/>
              <a:t> </a:t>
            </a:r>
            <a:r>
              <a:rPr lang="en-US" dirty="0" err="1"/>
              <a:t>na</a:t>
            </a:r>
            <a:r>
              <a:rPr lang="en-US" dirty="0"/>
              <a:t> </a:t>
            </a:r>
            <a:r>
              <a:rPr lang="en-US" dirty="0" err="1"/>
              <a:t>magkakaroon</a:t>
            </a:r>
            <a:r>
              <a:rPr lang="en-US" dirty="0"/>
              <a:t> </a:t>
            </a:r>
            <a:r>
              <a:rPr lang="en-US" dirty="0" err="1"/>
              <a:t>eto</a:t>
            </a:r>
            <a:r>
              <a:rPr lang="en-US" dirty="0"/>
              <a:t> </a:t>
            </a:r>
            <a:r>
              <a:rPr lang="en-US" dirty="0" err="1"/>
              <a:t>ng</a:t>
            </a:r>
            <a:r>
              <a:rPr lang="en-US" dirty="0"/>
              <a:t> </a:t>
            </a:r>
            <a:r>
              <a:rPr lang="en-US" dirty="0" err="1"/>
              <a:t>mamalim</a:t>
            </a:r>
            <a:r>
              <a:rPr lang="en-US" dirty="0"/>
              <a:t> </a:t>
            </a:r>
            <a:r>
              <a:rPr lang="en-US" dirty="0" err="1"/>
              <a:t>na</a:t>
            </a:r>
            <a:r>
              <a:rPr lang="en-US" dirty="0"/>
              <a:t> selloff </a:t>
            </a:r>
            <a:r>
              <a:rPr lang="en-US" dirty="0" err="1"/>
              <a:t>dulot</a:t>
            </a:r>
            <a:r>
              <a:rPr lang="en-US" dirty="0"/>
              <a:t> </a:t>
            </a:r>
            <a:r>
              <a:rPr lang="en-US" dirty="0" err="1"/>
              <a:t>ng</a:t>
            </a:r>
            <a:r>
              <a:rPr lang="en-US" dirty="0"/>
              <a:t> panic. </a:t>
            </a:r>
            <a:r>
              <a:rPr lang="en-US" dirty="0" err="1"/>
              <a:t>ang</a:t>
            </a:r>
            <a:r>
              <a:rPr lang="en-US" dirty="0"/>
              <a:t> </a:t>
            </a:r>
            <a:r>
              <a:rPr lang="en-US" dirty="0" err="1"/>
              <a:t>burj</a:t>
            </a:r>
            <a:r>
              <a:rPr lang="en-US" dirty="0"/>
              <a:t> </a:t>
            </a:r>
            <a:r>
              <a:rPr lang="en-US" dirty="0" err="1"/>
              <a:t>khalifa</a:t>
            </a:r>
            <a:r>
              <a:rPr lang="en-US" dirty="0"/>
              <a:t> at may </a:t>
            </a:r>
            <a:r>
              <a:rPr lang="en-US" dirty="0" err="1"/>
              <a:t>malaking</a:t>
            </a:r>
            <a:r>
              <a:rPr lang="en-US" dirty="0"/>
              <a:t> spike (</a:t>
            </a:r>
            <a:r>
              <a:rPr lang="en-US" dirty="0" err="1"/>
              <a:t>pls</a:t>
            </a:r>
            <a:r>
              <a:rPr lang="en-US" dirty="0"/>
              <a:t> see chart A B C) </a:t>
            </a:r>
            <a:r>
              <a:rPr lang="en-US" dirty="0" err="1"/>
              <a:t>na</a:t>
            </a:r>
            <a:r>
              <a:rPr lang="en-US" dirty="0"/>
              <a:t> kung </a:t>
            </a:r>
            <a:r>
              <a:rPr lang="en-US" dirty="0" err="1"/>
              <a:t>saan</a:t>
            </a:r>
            <a:r>
              <a:rPr lang="en-US" dirty="0"/>
              <a:t> </a:t>
            </a:r>
            <a:r>
              <a:rPr lang="en-US" dirty="0" err="1"/>
              <a:t>ang</a:t>
            </a:r>
            <a:r>
              <a:rPr lang="en-US" dirty="0"/>
              <a:t> </a:t>
            </a:r>
            <a:r>
              <a:rPr lang="en-US" dirty="0" err="1"/>
              <a:t>pag</a:t>
            </a:r>
            <a:r>
              <a:rPr lang="en-US" dirty="0"/>
              <a:t> </a:t>
            </a:r>
            <a:r>
              <a:rPr lang="en-US" dirty="0" err="1"/>
              <a:t>akyat</a:t>
            </a:r>
            <a:r>
              <a:rPr lang="en-US" dirty="0"/>
              <a:t> </a:t>
            </a:r>
            <a:r>
              <a:rPr lang="en-US" dirty="0" err="1"/>
              <a:t>nito</a:t>
            </a:r>
            <a:r>
              <a:rPr lang="en-US" dirty="0"/>
              <a:t> ay HIGHLY EXTREME, </a:t>
            </a:r>
            <a:r>
              <a:rPr lang="en-US" dirty="0" err="1"/>
              <a:t>eto</a:t>
            </a:r>
            <a:r>
              <a:rPr lang="en-US" dirty="0"/>
              <a:t> </a:t>
            </a:r>
            <a:r>
              <a:rPr lang="en-US" dirty="0" err="1"/>
              <a:t>yun</a:t>
            </a:r>
            <a:r>
              <a:rPr lang="en-US" dirty="0"/>
              <a:t> </a:t>
            </a:r>
            <a:r>
              <a:rPr lang="en-US" dirty="0" err="1"/>
              <a:t>tinatawag</a:t>
            </a:r>
            <a:r>
              <a:rPr lang="en-US" dirty="0"/>
              <a:t> </a:t>
            </a:r>
            <a:r>
              <a:rPr lang="en-US" dirty="0" err="1"/>
              <a:t>na</a:t>
            </a:r>
            <a:r>
              <a:rPr lang="en-US" dirty="0"/>
              <a:t> fear of missing out or FOMO RUN, </a:t>
            </a:r>
            <a:r>
              <a:rPr lang="en-US" dirty="0" err="1"/>
              <a:t>eto</a:t>
            </a:r>
            <a:r>
              <a:rPr lang="en-US" dirty="0"/>
              <a:t> </a:t>
            </a:r>
            <a:r>
              <a:rPr lang="en-US" dirty="0" err="1"/>
              <a:t>yun</a:t>
            </a:r>
            <a:r>
              <a:rPr lang="en-US" dirty="0"/>
              <a:t> </a:t>
            </a:r>
            <a:r>
              <a:rPr lang="en-US" dirty="0" err="1"/>
              <a:t>takot</a:t>
            </a:r>
            <a:r>
              <a:rPr lang="en-US" dirty="0"/>
              <a:t> </a:t>
            </a:r>
            <a:r>
              <a:rPr lang="en-US" dirty="0" err="1"/>
              <a:t>ka</a:t>
            </a:r>
            <a:r>
              <a:rPr lang="en-US" dirty="0"/>
              <a:t> </a:t>
            </a:r>
            <a:r>
              <a:rPr lang="en-US" dirty="0" err="1"/>
              <a:t>maiwan</a:t>
            </a:r>
            <a:r>
              <a:rPr lang="en-US" dirty="0"/>
              <a:t> </a:t>
            </a:r>
            <a:r>
              <a:rPr lang="en-US" dirty="0" err="1"/>
              <a:t>dahil</a:t>
            </a:r>
            <a:r>
              <a:rPr lang="en-US" dirty="0"/>
              <a:t> </a:t>
            </a:r>
            <a:r>
              <a:rPr lang="en-US" dirty="0" err="1"/>
              <a:t>akala</a:t>
            </a:r>
            <a:r>
              <a:rPr lang="en-US" dirty="0"/>
              <a:t> </a:t>
            </a:r>
            <a:r>
              <a:rPr lang="en-US" dirty="0" err="1"/>
              <a:t>mo</a:t>
            </a:r>
            <a:r>
              <a:rPr lang="en-US" dirty="0"/>
              <a:t> ay di </a:t>
            </a:r>
            <a:r>
              <a:rPr lang="en-US" dirty="0" err="1"/>
              <a:t>ka</a:t>
            </a:r>
            <a:r>
              <a:rPr lang="en-US" dirty="0"/>
              <a:t> </a:t>
            </a:r>
            <a:r>
              <a:rPr lang="en-US" dirty="0" err="1"/>
              <a:t>na</a:t>
            </a:r>
            <a:r>
              <a:rPr lang="en-US" dirty="0"/>
              <a:t> </a:t>
            </a:r>
            <a:r>
              <a:rPr lang="en-US" dirty="0" err="1"/>
              <a:t>makakabili</a:t>
            </a:r>
            <a:r>
              <a:rPr lang="en-US" dirty="0"/>
              <a:t> kung </a:t>
            </a:r>
            <a:r>
              <a:rPr lang="en-US" dirty="0" err="1"/>
              <a:t>hindi</a:t>
            </a:r>
            <a:r>
              <a:rPr lang="en-US" dirty="0"/>
              <a:t> </a:t>
            </a:r>
            <a:r>
              <a:rPr lang="en-US" dirty="0" err="1"/>
              <a:t>ka</a:t>
            </a:r>
            <a:r>
              <a:rPr lang="en-US" dirty="0"/>
              <a:t> </a:t>
            </a:r>
            <a:r>
              <a:rPr lang="en-US" dirty="0" err="1"/>
              <a:t>hahabol</a:t>
            </a:r>
            <a:r>
              <a:rPr lang="en-US" dirty="0"/>
              <a:t>. </a:t>
            </a:r>
            <a:r>
              <a:rPr lang="en-US" dirty="0" err="1"/>
              <a:t>eto</a:t>
            </a:r>
            <a:r>
              <a:rPr lang="en-US" dirty="0"/>
              <a:t> </a:t>
            </a:r>
            <a:r>
              <a:rPr lang="en-US" dirty="0" err="1"/>
              <a:t>rin</a:t>
            </a:r>
            <a:r>
              <a:rPr lang="en-US" dirty="0"/>
              <a:t> </a:t>
            </a:r>
            <a:r>
              <a:rPr lang="en-US" dirty="0" err="1"/>
              <a:t>yun</a:t>
            </a:r>
            <a:r>
              <a:rPr lang="en-US" dirty="0"/>
              <a:t> feeling </a:t>
            </a:r>
            <a:r>
              <a:rPr lang="en-US" dirty="0" err="1"/>
              <a:t>na</a:t>
            </a:r>
            <a:r>
              <a:rPr lang="en-US" dirty="0"/>
              <a:t> </a:t>
            </a:r>
            <a:r>
              <a:rPr lang="en-US" dirty="0" err="1"/>
              <a:t>pinapanuod</a:t>
            </a:r>
            <a:r>
              <a:rPr lang="en-US" dirty="0"/>
              <a:t> </a:t>
            </a:r>
            <a:r>
              <a:rPr lang="en-US" dirty="0" err="1"/>
              <a:t>mo</a:t>
            </a:r>
            <a:r>
              <a:rPr lang="en-US" dirty="0"/>
              <a:t> </a:t>
            </a:r>
            <a:r>
              <a:rPr lang="en-US" dirty="0" err="1"/>
              <a:t>yun</a:t>
            </a:r>
            <a:r>
              <a:rPr lang="en-US" dirty="0"/>
              <a:t> </a:t>
            </a:r>
            <a:r>
              <a:rPr lang="en-US" dirty="0" err="1"/>
              <a:t>pagakyat</a:t>
            </a:r>
            <a:r>
              <a:rPr lang="en-US" dirty="0"/>
              <a:t> nun </a:t>
            </a:r>
            <a:r>
              <a:rPr lang="en-US" dirty="0" err="1"/>
              <a:t>isang</a:t>
            </a:r>
            <a:r>
              <a:rPr lang="en-US" dirty="0"/>
              <a:t> stock </a:t>
            </a:r>
            <a:r>
              <a:rPr lang="en-US" dirty="0" err="1"/>
              <a:t>na</a:t>
            </a:r>
            <a:r>
              <a:rPr lang="en-US" dirty="0"/>
              <a:t> may </a:t>
            </a:r>
            <a:r>
              <a:rPr lang="en-US" dirty="0" err="1"/>
              <a:t>kaba</a:t>
            </a:r>
            <a:r>
              <a:rPr lang="en-US" dirty="0"/>
              <a:t> </a:t>
            </a:r>
            <a:r>
              <a:rPr lang="en-US" dirty="0" err="1"/>
              <a:t>sa</a:t>
            </a:r>
            <a:r>
              <a:rPr lang="en-US" dirty="0"/>
              <a:t> </a:t>
            </a:r>
            <a:r>
              <a:rPr lang="en-US" dirty="0" err="1"/>
              <a:t>umpisa</a:t>
            </a:r>
            <a:r>
              <a:rPr lang="en-US" dirty="0"/>
              <a:t> </a:t>
            </a:r>
            <a:r>
              <a:rPr lang="en-US" dirty="0" err="1"/>
              <a:t>pero</a:t>
            </a:r>
            <a:r>
              <a:rPr lang="en-US" dirty="0"/>
              <a:t> </a:t>
            </a:r>
            <a:r>
              <a:rPr lang="en-US" dirty="0" err="1"/>
              <a:t>sa</a:t>
            </a:r>
            <a:r>
              <a:rPr lang="en-US" dirty="0"/>
              <a:t> </a:t>
            </a:r>
            <a:r>
              <a:rPr lang="en-US" dirty="0" err="1"/>
              <a:t>sa</a:t>
            </a:r>
            <a:r>
              <a:rPr lang="en-US" dirty="0"/>
              <a:t> </a:t>
            </a:r>
            <a:r>
              <a:rPr lang="en-US" dirty="0" err="1"/>
              <a:t>kalaunan</a:t>
            </a:r>
            <a:r>
              <a:rPr lang="en-US" dirty="0"/>
              <a:t> </a:t>
            </a:r>
            <a:r>
              <a:rPr lang="en-US" dirty="0" err="1"/>
              <a:t>yun</a:t>
            </a:r>
            <a:r>
              <a:rPr lang="en-US" dirty="0"/>
              <a:t> </a:t>
            </a:r>
            <a:r>
              <a:rPr lang="en-US" dirty="0" err="1"/>
              <a:t>kaba</a:t>
            </a:r>
            <a:r>
              <a:rPr lang="en-US" dirty="0"/>
              <a:t> </a:t>
            </a:r>
            <a:r>
              <a:rPr lang="en-US" dirty="0" err="1"/>
              <a:t>na</a:t>
            </a:r>
            <a:r>
              <a:rPr lang="en-US" dirty="0"/>
              <a:t> </a:t>
            </a:r>
            <a:r>
              <a:rPr lang="en-US" dirty="0" err="1"/>
              <a:t>yun</a:t>
            </a:r>
            <a:r>
              <a:rPr lang="en-US" dirty="0"/>
              <a:t> ay </a:t>
            </a:r>
            <a:r>
              <a:rPr lang="en-US" dirty="0" err="1"/>
              <a:t>naging</a:t>
            </a:r>
            <a:r>
              <a:rPr lang="en-US" dirty="0"/>
              <a:t> </a:t>
            </a:r>
            <a:r>
              <a:rPr lang="en-US" dirty="0" err="1"/>
              <a:t>daan</a:t>
            </a:r>
            <a:r>
              <a:rPr lang="en-US" dirty="0"/>
              <a:t> </a:t>
            </a:r>
            <a:r>
              <a:rPr lang="en-US" dirty="0" err="1"/>
              <a:t>ng</a:t>
            </a:r>
            <a:r>
              <a:rPr lang="en-US" dirty="0"/>
              <a:t> di </a:t>
            </a:r>
            <a:r>
              <a:rPr lang="en-US" dirty="0" err="1"/>
              <a:t>mo</a:t>
            </a:r>
            <a:r>
              <a:rPr lang="en-US" dirty="0"/>
              <a:t> </a:t>
            </a:r>
            <a:r>
              <a:rPr lang="en-US" dirty="0" err="1"/>
              <a:t>na</a:t>
            </a:r>
            <a:r>
              <a:rPr lang="en-US" dirty="0"/>
              <a:t> </a:t>
            </a:r>
            <a:r>
              <a:rPr lang="en-US" dirty="0" err="1"/>
              <a:t>matiis</a:t>
            </a:r>
            <a:r>
              <a:rPr lang="en-US" dirty="0"/>
              <a:t> </a:t>
            </a:r>
            <a:r>
              <a:rPr lang="en-US" dirty="0" err="1"/>
              <a:t>na</a:t>
            </a:r>
            <a:r>
              <a:rPr lang="en-US" dirty="0"/>
              <a:t> </a:t>
            </a:r>
            <a:r>
              <a:rPr lang="en-US" dirty="0" err="1"/>
              <a:t>tingnan</a:t>
            </a:r>
            <a:r>
              <a:rPr lang="en-US" dirty="0"/>
              <a:t> </a:t>
            </a:r>
            <a:r>
              <a:rPr lang="en-US" dirty="0" err="1"/>
              <a:t>yun</a:t>
            </a:r>
            <a:r>
              <a:rPr lang="en-US" dirty="0"/>
              <a:t> </a:t>
            </a:r>
            <a:r>
              <a:rPr lang="en-US" dirty="0" err="1"/>
              <a:t>presyo</a:t>
            </a:r>
            <a:r>
              <a:rPr lang="en-US" dirty="0"/>
              <a:t> </a:t>
            </a:r>
            <a:r>
              <a:rPr lang="en-US" dirty="0" err="1"/>
              <a:t>na</a:t>
            </a:r>
            <a:r>
              <a:rPr lang="en-US" dirty="0"/>
              <a:t> </a:t>
            </a:r>
            <a:r>
              <a:rPr lang="en-US" dirty="0" err="1"/>
              <a:t>umaakyat</a:t>
            </a:r>
            <a:r>
              <a:rPr lang="en-US" dirty="0"/>
              <a:t> at </a:t>
            </a:r>
            <a:r>
              <a:rPr lang="en-US" dirty="0" err="1"/>
              <a:t>bumili</a:t>
            </a:r>
            <a:r>
              <a:rPr lang="en-US" dirty="0"/>
              <a:t> </a:t>
            </a:r>
            <a:r>
              <a:rPr lang="en-US" dirty="0" err="1"/>
              <a:t>ka</a:t>
            </a:r>
            <a:r>
              <a:rPr lang="en-US" dirty="0"/>
              <a:t> </a:t>
            </a:r>
            <a:r>
              <a:rPr lang="en-US" dirty="0" err="1"/>
              <a:t>na</a:t>
            </a:r>
            <a:r>
              <a:rPr lang="en-US" dirty="0"/>
              <a:t> </a:t>
            </a:r>
            <a:r>
              <a:rPr lang="en-US" dirty="0" err="1"/>
              <a:t>rin</a:t>
            </a:r>
            <a:r>
              <a:rPr lang="en-US" dirty="0"/>
              <a:t>. and extreme high risk ay </a:t>
            </a:r>
            <a:r>
              <a:rPr lang="en-US" dirty="0" err="1"/>
              <a:t>ng</a:t>
            </a:r>
            <a:r>
              <a:rPr lang="en-US" dirty="0"/>
              <a:t> </a:t>
            </a:r>
            <a:r>
              <a:rPr lang="en-US" dirty="0" err="1"/>
              <a:t>papahiwatig</a:t>
            </a:r>
            <a:r>
              <a:rPr lang="en-US" dirty="0"/>
              <a:t> the price in subject ay </a:t>
            </a:r>
            <a:r>
              <a:rPr lang="en-US" dirty="0" err="1"/>
              <a:t>masyado</a:t>
            </a:r>
            <a:r>
              <a:rPr lang="en-US" dirty="0"/>
              <a:t> </a:t>
            </a:r>
            <a:r>
              <a:rPr lang="en-US" dirty="0" err="1"/>
              <a:t>ng</a:t>
            </a:r>
            <a:r>
              <a:rPr lang="en-US" dirty="0"/>
              <a:t> emotional at short term in nature, meaning </a:t>
            </a:r>
            <a:r>
              <a:rPr lang="en-US" dirty="0" err="1"/>
              <a:t>indi</a:t>
            </a:r>
            <a:r>
              <a:rPr lang="en-US" dirty="0"/>
              <a:t> </a:t>
            </a:r>
            <a:r>
              <a:rPr lang="en-US" dirty="0" err="1"/>
              <a:t>sya</a:t>
            </a:r>
            <a:r>
              <a:rPr lang="en-US" dirty="0"/>
              <a:t> sustainable. unfortunately </a:t>
            </a:r>
            <a:r>
              <a:rPr lang="en-US" dirty="0" err="1"/>
              <a:t>kapag</a:t>
            </a:r>
            <a:r>
              <a:rPr lang="en-US" dirty="0"/>
              <a:t> </a:t>
            </a:r>
            <a:r>
              <a:rPr lang="en-US" dirty="0" err="1"/>
              <a:t>ng</a:t>
            </a:r>
            <a:r>
              <a:rPr lang="en-US" dirty="0"/>
              <a:t> </a:t>
            </a:r>
            <a:r>
              <a:rPr lang="en-US" dirty="0" err="1"/>
              <a:t>ka</a:t>
            </a:r>
            <a:r>
              <a:rPr lang="en-US" dirty="0"/>
              <a:t> </a:t>
            </a:r>
            <a:r>
              <a:rPr lang="en-US" dirty="0" err="1"/>
              <a:t>fomo</a:t>
            </a:r>
            <a:r>
              <a:rPr lang="en-US" dirty="0"/>
              <a:t> run </a:t>
            </a:r>
            <a:r>
              <a:rPr lang="en-US" dirty="0" err="1"/>
              <a:t>na</a:t>
            </a:r>
            <a:r>
              <a:rPr lang="en-US" dirty="0"/>
              <a:t>, </a:t>
            </a:r>
            <a:r>
              <a:rPr lang="en-US" dirty="0" err="1"/>
              <a:t>ang</a:t>
            </a:r>
            <a:r>
              <a:rPr lang="en-US" dirty="0"/>
              <a:t> </a:t>
            </a:r>
            <a:r>
              <a:rPr lang="en-US" dirty="0" err="1"/>
              <a:t>burj</a:t>
            </a:r>
            <a:r>
              <a:rPr lang="en-US" dirty="0"/>
              <a:t> </a:t>
            </a:r>
            <a:r>
              <a:rPr lang="en-US" dirty="0" err="1"/>
              <a:t>khalifa</a:t>
            </a:r>
            <a:r>
              <a:rPr lang="en-US" dirty="0"/>
              <a:t> pattern ay vulnerable </a:t>
            </a:r>
            <a:r>
              <a:rPr lang="en-US" dirty="0" err="1"/>
              <a:t>sa</a:t>
            </a:r>
            <a:r>
              <a:rPr lang="en-US" dirty="0"/>
              <a:t> </a:t>
            </a:r>
            <a:r>
              <a:rPr lang="en-US" dirty="0" err="1"/>
              <a:t>paraburst</a:t>
            </a:r>
            <a:r>
              <a:rPr lang="en-US" dirty="0"/>
              <a:t> (</a:t>
            </a:r>
            <a:r>
              <a:rPr lang="en-US" dirty="0" err="1"/>
              <a:t>ang</a:t>
            </a:r>
            <a:r>
              <a:rPr lang="en-US" dirty="0"/>
              <a:t> meaning </a:t>
            </a:r>
            <a:r>
              <a:rPr lang="en-US" dirty="0" err="1"/>
              <a:t>nasa</a:t>
            </a:r>
            <a:r>
              <a:rPr lang="en-US" dirty="0"/>
              <a:t> </a:t>
            </a:r>
            <a:r>
              <a:rPr lang="en-US" dirty="0" err="1"/>
              <a:t>prev</a:t>
            </a:r>
            <a:r>
              <a:rPr lang="en-US" dirty="0"/>
              <a:t> post </a:t>
            </a:r>
            <a:r>
              <a:rPr lang="en-US" dirty="0" err="1"/>
              <a:t>rin</a:t>
            </a:r>
            <a:r>
              <a:rPr lang="en-US" dirty="0"/>
              <a:t>). nun </a:t>
            </a:r>
            <a:r>
              <a:rPr lang="en-US" dirty="0" err="1"/>
              <a:t>ng</a:t>
            </a:r>
            <a:r>
              <a:rPr lang="en-US" dirty="0"/>
              <a:t> </a:t>
            </a:r>
            <a:r>
              <a:rPr lang="en-US" dirty="0" err="1"/>
              <a:t>ka</a:t>
            </a:r>
            <a:r>
              <a:rPr lang="en-US" dirty="0"/>
              <a:t> </a:t>
            </a:r>
            <a:r>
              <a:rPr lang="en-US" dirty="0" err="1"/>
              <a:t>ePHR</a:t>
            </a:r>
            <a:r>
              <a:rPr lang="en-US" dirty="0"/>
              <a:t> </a:t>
            </a:r>
            <a:r>
              <a:rPr lang="en-US" dirty="0" err="1"/>
              <a:t>ang</a:t>
            </a:r>
            <a:r>
              <a:rPr lang="en-US" dirty="0"/>
              <a:t> $ISM, may </a:t>
            </a:r>
            <a:r>
              <a:rPr lang="en-US" dirty="0" err="1"/>
              <a:t>paalala</a:t>
            </a:r>
            <a:r>
              <a:rPr lang="en-US" dirty="0"/>
              <a:t> </a:t>
            </a:r>
            <a:r>
              <a:rPr lang="en-US" dirty="0" err="1"/>
              <a:t>na</a:t>
            </a:r>
            <a:r>
              <a:rPr lang="en-US" dirty="0"/>
              <a:t> </a:t>
            </a:r>
            <a:r>
              <a:rPr lang="en-US" dirty="0" err="1"/>
              <a:t>tayo</a:t>
            </a:r>
            <a:r>
              <a:rPr lang="en-US" dirty="0"/>
              <a:t> </a:t>
            </a:r>
            <a:r>
              <a:rPr lang="en-US" dirty="0" err="1"/>
              <a:t>sa</a:t>
            </a:r>
            <a:r>
              <a:rPr lang="en-US" dirty="0"/>
              <a:t> </a:t>
            </a:r>
            <a:r>
              <a:rPr lang="en-US" dirty="0" err="1"/>
              <a:t>BoH</a:t>
            </a:r>
            <a:r>
              <a:rPr lang="en-US" dirty="0"/>
              <a:t> Society at </a:t>
            </a:r>
            <a:r>
              <a:rPr lang="en-US" dirty="0" err="1"/>
              <a:t>bookaka</a:t>
            </a:r>
            <a:r>
              <a:rPr lang="en-US" dirty="0"/>
              <a:t> </a:t>
            </a:r>
            <a:r>
              <a:rPr lang="en-US" dirty="0" err="1"/>
              <a:t>na</a:t>
            </a:r>
            <a:r>
              <a:rPr lang="en-US" dirty="0"/>
              <a:t> </a:t>
            </a:r>
            <a:r>
              <a:rPr lang="en-US" dirty="0" err="1"/>
              <a:t>maging</a:t>
            </a:r>
            <a:r>
              <a:rPr lang="en-US" dirty="0"/>
              <a:t> extreme caution </a:t>
            </a:r>
            <a:r>
              <a:rPr lang="en-US" dirty="0" err="1"/>
              <a:t>na.</a:t>
            </a:r>
            <a:endParaRPr lang="en-US" dirty="0"/>
          </a:p>
        </p:txBody>
      </p:sp>
    </p:spTree>
    <p:extLst>
      <p:ext uri="{BB962C8B-B14F-4D97-AF65-F5344CB8AC3E}">
        <p14:creationId xmlns:p14="http://schemas.microsoft.com/office/powerpoint/2010/main" val="908973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A64243DC-FDC8-47BC-A10B-BAB30429803C}"/>
              </a:ext>
            </a:extLst>
          </p:cNvPr>
          <p:cNvPicPr>
            <a:picLocks noChangeAspect="1"/>
          </p:cNvPicPr>
          <p:nvPr/>
        </p:nvPicPr>
        <p:blipFill>
          <a:blip r:embed="rId2"/>
          <a:stretch>
            <a:fillRect/>
          </a:stretch>
        </p:blipFill>
        <p:spPr>
          <a:xfrm>
            <a:off x="0" y="981075"/>
            <a:ext cx="12192000" cy="5851490"/>
          </a:xfrm>
          <a:prstGeom prst="rect">
            <a:avLst/>
          </a:prstGeom>
        </p:spPr>
      </p:pic>
      <p:sp>
        <p:nvSpPr>
          <p:cNvPr id="3" name="Rectangle 2">
            <a:extLst>
              <a:ext uri="{FF2B5EF4-FFF2-40B4-BE49-F238E27FC236}">
                <a16:creationId xmlns="" xmlns:a16="http://schemas.microsoft.com/office/drawing/2014/main" id="{315A187F-6F60-4B39-8EE0-CCBE6F0BF439}"/>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PARABURST EXCEPTION: GOLDEN BRIA HOLDINGS</a:t>
            </a:r>
          </a:p>
        </p:txBody>
      </p:sp>
      <p:sp>
        <p:nvSpPr>
          <p:cNvPr id="4" name="Oval 3">
            <a:extLst>
              <a:ext uri="{FF2B5EF4-FFF2-40B4-BE49-F238E27FC236}">
                <a16:creationId xmlns="" xmlns:a16="http://schemas.microsoft.com/office/drawing/2014/main" id="{44AF9E04-24C8-411D-917F-72E2710CBF56}"/>
              </a:ext>
            </a:extLst>
          </p:cNvPr>
          <p:cNvSpPr/>
          <p:nvPr/>
        </p:nvSpPr>
        <p:spPr>
          <a:xfrm>
            <a:off x="6638925" y="5629275"/>
            <a:ext cx="228600" cy="171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 xmlns:a16="http://schemas.microsoft.com/office/drawing/2014/main" id="{59CD415B-3AC4-4783-A493-CEBFD52CFC66}"/>
              </a:ext>
            </a:extLst>
          </p:cNvPr>
          <p:cNvSpPr/>
          <p:nvPr/>
        </p:nvSpPr>
        <p:spPr>
          <a:xfrm>
            <a:off x="6638925" y="1905000"/>
            <a:ext cx="228600" cy="171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 xmlns:a16="http://schemas.microsoft.com/office/drawing/2014/main" id="{79FD23D8-3792-45E8-B239-BEC4F1F10D1D}"/>
              </a:ext>
            </a:extLst>
          </p:cNvPr>
          <p:cNvSpPr txBox="1"/>
          <p:nvPr/>
        </p:nvSpPr>
        <p:spPr>
          <a:xfrm>
            <a:off x="6867525" y="2905125"/>
            <a:ext cx="4724400" cy="369332"/>
          </a:xfrm>
          <a:prstGeom prst="rect">
            <a:avLst/>
          </a:prstGeom>
          <a:noFill/>
        </p:spPr>
        <p:txBody>
          <a:bodyPr wrap="square" rtlCol="0">
            <a:spAutoFit/>
          </a:bodyPr>
          <a:lstStyle/>
          <a:p>
            <a:r>
              <a:rPr lang="en-US" dirty="0"/>
              <a:t>ORDERLY TRANSITION INTO A TRADING RANGE</a:t>
            </a:r>
          </a:p>
        </p:txBody>
      </p:sp>
    </p:spTree>
    <p:extLst>
      <p:ext uri="{BB962C8B-B14F-4D97-AF65-F5344CB8AC3E}">
        <p14:creationId xmlns:p14="http://schemas.microsoft.com/office/powerpoint/2010/main" val="1185074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D73E3-66F9-4B09-B9CC-3DE08E2F37C9}"/>
              </a:ext>
            </a:extLst>
          </p:cNvPr>
          <p:cNvSpPr>
            <a:spLocks noGrp="1"/>
          </p:cNvSpPr>
          <p:nvPr>
            <p:ph type="title"/>
          </p:nvPr>
        </p:nvSpPr>
        <p:spPr/>
        <p:txBody>
          <a:bodyPr/>
          <a:lstStyle/>
          <a:p>
            <a:r>
              <a:rPr lang="en-US" dirty="0"/>
              <a:t>THE 20 PERCENT RULE</a:t>
            </a:r>
          </a:p>
        </p:txBody>
      </p:sp>
    </p:spTree>
    <p:extLst>
      <p:ext uri="{BB962C8B-B14F-4D97-AF65-F5344CB8AC3E}">
        <p14:creationId xmlns:p14="http://schemas.microsoft.com/office/powerpoint/2010/main" val="2684496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70826F8-A27F-49E0-9D08-130D0DDFF73F}"/>
              </a:ext>
            </a:extLst>
          </p:cNvPr>
          <p:cNvSpPr>
            <a:spLocks noGrp="1"/>
          </p:cNvSpPr>
          <p:nvPr>
            <p:ph idx="1"/>
          </p:nvPr>
        </p:nvSpPr>
        <p:spPr>
          <a:xfrm>
            <a:off x="476250" y="828675"/>
            <a:ext cx="10877550" cy="5654675"/>
          </a:xfrm>
        </p:spPr>
        <p:txBody>
          <a:bodyPr>
            <a:noAutofit/>
          </a:bodyPr>
          <a:lstStyle/>
          <a:p>
            <a:pPr marL="0" indent="0">
              <a:buNone/>
            </a:pPr>
            <a:r>
              <a:rPr lang="en-US" dirty="0"/>
              <a:t>The 20 percent rule is a rule for trading various scenarios. </a:t>
            </a:r>
          </a:p>
          <a:p>
            <a:pPr marL="0" indent="0">
              <a:buNone/>
            </a:pPr>
            <a:endParaRPr lang="en-US" sz="1600" dirty="0"/>
          </a:p>
          <a:p>
            <a:pPr marL="0" indent="0">
              <a:buNone/>
            </a:pPr>
            <a:r>
              <a:rPr lang="en-US" dirty="0"/>
              <a:t>I use the 20 percent rule for setting up the following trades:</a:t>
            </a:r>
          </a:p>
          <a:p>
            <a:pPr>
              <a:buFont typeface="Wingdings" panose="05000000000000000000" pitchFamily="2" charset="2"/>
              <a:buChar char="§"/>
            </a:pPr>
            <a:endParaRPr lang="en-US" sz="1100" dirty="0"/>
          </a:p>
          <a:p>
            <a:pPr lvl="1">
              <a:buFont typeface="Wingdings" panose="05000000000000000000" pitchFamily="2" charset="2"/>
              <a:buChar char="ü"/>
            </a:pPr>
            <a:r>
              <a:rPr lang="en-US" sz="2800" dirty="0"/>
              <a:t>Major support from a price high after a 20% correction; bearish if price falls more than 20%.</a:t>
            </a:r>
          </a:p>
          <a:p>
            <a:pPr lvl="1">
              <a:buFont typeface="Wingdings" panose="05000000000000000000" pitchFamily="2" charset="2"/>
              <a:buChar char="ü"/>
            </a:pPr>
            <a:endParaRPr lang="en-US" sz="1200" dirty="0"/>
          </a:p>
          <a:p>
            <a:pPr lvl="1">
              <a:buFont typeface="Wingdings" panose="05000000000000000000" pitchFamily="2" charset="2"/>
              <a:buChar char="ü"/>
            </a:pPr>
            <a:r>
              <a:rPr lang="en-US" sz="2800" dirty="0"/>
              <a:t>Major resistance from a price low after a bottom reversal and a stock gains 20%; bullish if price gains more than 20% and keeps this advance.</a:t>
            </a:r>
          </a:p>
          <a:p>
            <a:pPr lvl="1">
              <a:buFont typeface="Wingdings" panose="05000000000000000000" pitchFamily="2" charset="2"/>
              <a:buChar char="ü"/>
            </a:pPr>
            <a:endParaRPr lang="en-US" sz="1100" dirty="0"/>
          </a:p>
          <a:p>
            <a:pPr lvl="1">
              <a:buFont typeface="Wingdings" panose="05000000000000000000" pitchFamily="2" charset="2"/>
              <a:buChar char="ü"/>
            </a:pPr>
            <a:r>
              <a:rPr lang="en-US" sz="2800" dirty="0"/>
              <a:t>Trigger for momo and ceiling candidates.</a:t>
            </a:r>
          </a:p>
          <a:p>
            <a:pPr lvl="1">
              <a:buFont typeface="Wingdings" panose="05000000000000000000" pitchFamily="2" charset="2"/>
              <a:buChar char="ü"/>
            </a:pPr>
            <a:endParaRPr lang="en-US" sz="1100" dirty="0"/>
          </a:p>
          <a:p>
            <a:pPr lvl="1">
              <a:buFont typeface="Wingdings" panose="05000000000000000000" pitchFamily="2" charset="2"/>
              <a:buChar char="ü"/>
            </a:pPr>
            <a:r>
              <a:rPr lang="en-US" sz="2800" dirty="0"/>
              <a:t>Pivot level for follow-through play.</a:t>
            </a:r>
          </a:p>
        </p:txBody>
      </p:sp>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THE 20 PERCENT RULE</a:t>
            </a:r>
          </a:p>
        </p:txBody>
      </p:sp>
    </p:spTree>
    <p:extLst>
      <p:ext uri="{BB962C8B-B14F-4D97-AF65-F5344CB8AC3E}">
        <p14:creationId xmlns:p14="http://schemas.microsoft.com/office/powerpoint/2010/main" val="2549276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 xmlns:a16="http://schemas.microsoft.com/office/drawing/2014/main" id="{66993672-93C0-4FA8-9795-E6670CD25592}"/>
              </a:ext>
            </a:extLst>
          </p:cNvPr>
          <p:cNvCxnSpPr>
            <a:cxnSpLocks/>
          </p:cNvCxnSpPr>
          <p:nvPr/>
        </p:nvCxnSpPr>
        <p:spPr>
          <a:xfrm>
            <a:off x="1866900" y="1421697"/>
            <a:ext cx="1847850" cy="1819275"/>
          </a:xfrm>
          <a:prstGeom prst="line">
            <a:avLst/>
          </a:prstGeom>
          <a:ln w="38100"/>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 xmlns:a16="http://schemas.microsoft.com/office/drawing/2014/main" id="{EBCF3A34-D91D-403B-8CEF-617284FEF52B}"/>
              </a:ext>
            </a:extLst>
          </p:cNvPr>
          <p:cNvCxnSpPr>
            <a:cxnSpLocks/>
          </p:cNvCxnSpPr>
          <p:nvPr/>
        </p:nvCxnSpPr>
        <p:spPr>
          <a:xfrm flipH="1">
            <a:off x="3714750" y="2097972"/>
            <a:ext cx="819150" cy="1143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 xmlns:a16="http://schemas.microsoft.com/office/drawing/2014/main" id="{293DF091-5370-4A7B-A7D9-9AD2782F547B}"/>
              </a:ext>
            </a:extLst>
          </p:cNvPr>
          <p:cNvCxnSpPr>
            <a:cxnSpLocks/>
          </p:cNvCxnSpPr>
          <p:nvPr/>
        </p:nvCxnSpPr>
        <p:spPr>
          <a:xfrm flipH="1">
            <a:off x="4533900" y="1526472"/>
            <a:ext cx="409575" cy="571500"/>
          </a:xfrm>
          <a:prstGeom prst="line">
            <a:avLst/>
          </a:prstGeom>
          <a:ln w="38100">
            <a:prstDash val="dash"/>
          </a:ln>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 xmlns:a16="http://schemas.microsoft.com/office/drawing/2014/main" id="{1B40E3ED-592B-4EBC-AAB7-FF738EB63BDE}"/>
              </a:ext>
            </a:extLst>
          </p:cNvPr>
          <p:cNvCxnSpPr/>
          <p:nvPr/>
        </p:nvCxnSpPr>
        <p:spPr>
          <a:xfrm>
            <a:off x="3571875" y="2097972"/>
            <a:ext cx="3514725"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A189F31F-32FD-44F5-B6D8-2FB9D1580B20}"/>
              </a:ext>
            </a:extLst>
          </p:cNvPr>
          <p:cNvSpPr txBox="1"/>
          <p:nvPr/>
        </p:nvSpPr>
        <p:spPr>
          <a:xfrm>
            <a:off x="7200900" y="1814694"/>
            <a:ext cx="4872038" cy="461665"/>
          </a:xfrm>
          <a:prstGeom prst="rect">
            <a:avLst/>
          </a:prstGeom>
          <a:noFill/>
        </p:spPr>
        <p:txBody>
          <a:bodyPr wrap="square" rtlCol="0">
            <a:spAutoFit/>
          </a:bodyPr>
          <a:lstStyle/>
          <a:p>
            <a:r>
              <a:rPr lang="en-US" sz="2400" dirty="0"/>
              <a:t>average bounce 5 to 7 percent</a:t>
            </a:r>
          </a:p>
        </p:txBody>
      </p:sp>
      <p:sp>
        <p:nvSpPr>
          <p:cNvPr id="15" name="TextBox 14">
            <a:extLst>
              <a:ext uri="{FF2B5EF4-FFF2-40B4-BE49-F238E27FC236}">
                <a16:creationId xmlns="" xmlns:a16="http://schemas.microsoft.com/office/drawing/2014/main" id="{87F90098-6DCC-4F8E-917F-590BAEA84957}"/>
              </a:ext>
            </a:extLst>
          </p:cNvPr>
          <p:cNvSpPr txBox="1"/>
          <p:nvPr/>
        </p:nvSpPr>
        <p:spPr>
          <a:xfrm>
            <a:off x="5357812" y="1745546"/>
            <a:ext cx="1466850" cy="369332"/>
          </a:xfrm>
          <a:prstGeom prst="rect">
            <a:avLst/>
          </a:prstGeom>
          <a:noFill/>
        </p:spPr>
        <p:txBody>
          <a:bodyPr wrap="square" rtlCol="0">
            <a:spAutoFit/>
          </a:bodyPr>
          <a:lstStyle/>
          <a:p>
            <a:pPr algn="ctr"/>
            <a:r>
              <a:rPr lang="en-US" dirty="0"/>
              <a:t>bounce</a:t>
            </a:r>
          </a:p>
        </p:txBody>
      </p:sp>
      <p:sp>
        <p:nvSpPr>
          <p:cNvPr id="16" name="TextBox 15">
            <a:extLst>
              <a:ext uri="{FF2B5EF4-FFF2-40B4-BE49-F238E27FC236}">
                <a16:creationId xmlns="" xmlns:a16="http://schemas.microsoft.com/office/drawing/2014/main" id="{26595127-522E-4808-9096-95456D061D4C}"/>
              </a:ext>
            </a:extLst>
          </p:cNvPr>
          <p:cNvSpPr txBox="1"/>
          <p:nvPr/>
        </p:nvSpPr>
        <p:spPr>
          <a:xfrm>
            <a:off x="5367337" y="1745546"/>
            <a:ext cx="1466850" cy="369332"/>
          </a:xfrm>
          <a:prstGeom prst="rect">
            <a:avLst/>
          </a:prstGeom>
          <a:noFill/>
        </p:spPr>
        <p:txBody>
          <a:bodyPr wrap="square" rtlCol="0">
            <a:spAutoFit/>
          </a:bodyPr>
          <a:lstStyle/>
          <a:p>
            <a:pPr algn="ctr"/>
            <a:r>
              <a:rPr lang="en-US" dirty="0">
                <a:solidFill>
                  <a:srgbClr val="00B050"/>
                </a:solidFill>
              </a:rPr>
              <a:t>bounce</a:t>
            </a:r>
          </a:p>
        </p:txBody>
      </p:sp>
      <p:cxnSp>
        <p:nvCxnSpPr>
          <p:cNvPr id="17" name="Straight Connector 16">
            <a:extLst>
              <a:ext uri="{FF2B5EF4-FFF2-40B4-BE49-F238E27FC236}">
                <a16:creationId xmlns="" xmlns:a16="http://schemas.microsoft.com/office/drawing/2014/main" id="{8E12BB89-F1BF-4BE0-ABE4-6D9F8D123371}"/>
              </a:ext>
            </a:extLst>
          </p:cNvPr>
          <p:cNvCxnSpPr/>
          <p:nvPr/>
        </p:nvCxnSpPr>
        <p:spPr>
          <a:xfrm>
            <a:off x="3186112" y="3240972"/>
            <a:ext cx="35147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 xmlns:a16="http://schemas.microsoft.com/office/drawing/2014/main" id="{6966C0B5-D8FB-4F14-B0A6-9ACA327915CD}"/>
              </a:ext>
            </a:extLst>
          </p:cNvPr>
          <p:cNvSpPr txBox="1"/>
          <p:nvPr/>
        </p:nvSpPr>
        <p:spPr>
          <a:xfrm>
            <a:off x="1995488" y="2927333"/>
            <a:ext cx="1419225" cy="646331"/>
          </a:xfrm>
          <a:prstGeom prst="rect">
            <a:avLst/>
          </a:prstGeom>
          <a:noFill/>
        </p:spPr>
        <p:txBody>
          <a:bodyPr wrap="square" rtlCol="0">
            <a:spAutoFit/>
          </a:bodyPr>
          <a:lstStyle/>
          <a:p>
            <a:r>
              <a:rPr lang="en-US" b="1" dirty="0">
                <a:solidFill>
                  <a:srgbClr val="00B050"/>
                </a:solidFill>
              </a:rPr>
              <a:t>20% decline </a:t>
            </a:r>
          </a:p>
          <a:p>
            <a:r>
              <a:rPr lang="en-US" b="1" dirty="0">
                <a:solidFill>
                  <a:srgbClr val="00B050"/>
                </a:solidFill>
              </a:rPr>
              <a:t>from high</a:t>
            </a:r>
          </a:p>
        </p:txBody>
      </p:sp>
      <p:cxnSp>
        <p:nvCxnSpPr>
          <p:cNvPr id="19" name="Straight Connector 18">
            <a:extLst>
              <a:ext uri="{FF2B5EF4-FFF2-40B4-BE49-F238E27FC236}">
                <a16:creationId xmlns="" xmlns:a16="http://schemas.microsoft.com/office/drawing/2014/main" id="{CE329ADA-8350-4CC4-9BB0-448A5DBEB16C}"/>
              </a:ext>
            </a:extLst>
          </p:cNvPr>
          <p:cNvCxnSpPr>
            <a:cxnSpLocks/>
          </p:cNvCxnSpPr>
          <p:nvPr/>
        </p:nvCxnSpPr>
        <p:spPr>
          <a:xfrm>
            <a:off x="4533900" y="2114878"/>
            <a:ext cx="1847850" cy="1819275"/>
          </a:xfrm>
          <a:prstGeom prst="line">
            <a:avLst/>
          </a:prstGeom>
          <a:ln w="38100"/>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 xmlns:a16="http://schemas.microsoft.com/office/drawing/2014/main" id="{8C5818DA-6E28-44B1-AF4A-D1F756817477}"/>
              </a:ext>
            </a:extLst>
          </p:cNvPr>
          <p:cNvSpPr txBox="1"/>
          <p:nvPr/>
        </p:nvSpPr>
        <p:spPr>
          <a:xfrm>
            <a:off x="3509963" y="3306098"/>
            <a:ext cx="361950" cy="369332"/>
          </a:xfrm>
          <a:prstGeom prst="rect">
            <a:avLst/>
          </a:prstGeom>
          <a:noFill/>
        </p:spPr>
        <p:txBody>
          <a:bodyPr wrap="square" rtlCol="0">
            <a:spAutoFit/>
          </a:bodyPr>
          <a:lstStyle/>
          <a:p>
            <a:pPr algn="ctr"/>
            <a:r>
              <a:rPr lang="en-US" b="1" dirty="0"/>
              <a:t>1</a:t>
            </a:r>
          </a:p>
        </p:txBody>
      </p:sp>
      <p:sp>
        <p:nvSpPr>
          <p:cNvPr id="21" name="TextBox 20">
            <a:extLst>
              <a:ext uri="{FF2B5EF4-FFF2-40B4-BE49-F238E27FC236}">
                <a16:creationId xmlns="" xmlns:a16="http://schemas.microsoft.com/office/drawing/2014/main" id="{1B73647D-5FE5-4CA8-AE23-1894503D781C}"/>
              </a:ext>
            </a:extLst>
          </p:cNvPr>
          <p:cNvSpPr txBox="1"/>
          <p:nvPr/>
        </p:nvSpPr>
        <p:spPr>
          <a:xfrm>
            <a:off x="5410200" y="3240972"/>
            <a:ext cx="361950" cy="369332"/>
          </a:xfrm>
          <a:prstGeom prst="rect">
            <a:avLst/>
          </a:prstGeom>
          <a:noFill/>
        </p:spPr>
        <p:txBody>
          <a:bodyPr wrap="square" rtlCol="0">
            <a:spAutoFit/>
          </a:bodyPr>
          <a:lstStyle/>
          <a:p>
            <a:pPr algn="ctr"/>
            <a:r>
              <a:rPr lang="en-US" b="1" dirty="0"/>
              <a:t>2</a:t>
            </a:r>
          </a:p>
        </p:txBody>
      </p:sp>
      <p:sp>
        <p:nvSpPr>
          <p:cNvPr id="22" name="TextBox 21">
            <a:extLst>
              <a:ext uri="{FF2B5EF4-FFF2-40B4-BE49-F238E27FC236}">
                <a16:creationId xmlns="" xmlns:a16="http://schemas.microsoft.com/office/drawing/2014/main" id="{3C54D31B-B895-4D0F-BD8C-22B28E2BA7A1}"/>
              </a:ext>
            </a:extLst>
          </p:cNvPr>
          <p:cNvSpPr txBox="1"/>
          <p:nvPr/>
        </p:nvSpPr>
        <p:spPr>
          <a:xfrm>
            <a:off x="6796087" y="3028890"/>
            <a:ext cx="4872038" cy="400110"/>
          </a:xfrm>
          <a:prstGeom prst="rect">
            <a:avLst/>
          </a:prstGeom>
          <a:noFill/>
        </p:spPr>
        <p:txBody>
          <a:bodyPr wrap="square" rtlCol="0">
            <a:spAutoFit/>
          </a:bodyPr>
          <a:lstStyle/>
          <a:p>
            <a:r>
              <a:rPr lang="en-US" sz="2000" b="1" dirty="0"/>
              <a:t>Computation: </a:t>
            </a:r>
            <a:r>
              <a:rPr lang="en-US" sz="2000" dirty="0"/>
              <a:t>high x 0.80 = 20% price level </a:t>
            </a:r>
          </a:p>
        </p:txBody>
      </p:sp>
      <p:sp>
        <p:nvSpPr>
          <p:cNvPr id="23" name="TextBox 22">
            <a:extLst>
              <a:ext uri="{FF2B5EF4-FFF2-40B4-BE49-F238E27FC236}">
                <a16:creationId xmlns="" xmlns:a16="http://schemas.microsoft.com/office/drawing/2014/main" id="{59831F3B-CA91-430B-BC8D-D58CD775E109}"/>
              </a:ext>
            </a:extLst>
          </p:cNvPr>
          <p:cNvSpPr txBox="1"/>
          <p:nvPr/>
        </p:nvSpPr>
        <p:spPr>
          <a:xfrm>
            <a:off x="1800225" y="4075331"/>
            <a:ext cx="8429625" cy="2677656"/>
          </a:xfrm>
          <a:prstGeom prst="rect">
            <a:avLst/>
          </a:prstGeom>
          <a:solidFill>
            <a:schemeClr val="bg1"/>
          </a:solidFill>
        </p:spPr>
        <p:txBody>
          <a:bodyPr wrap="square" rtlCol="0">
            <a:spAutoFit/>
          </a:bodyPr>
          <a:lstStyle/>
          <a:p>
            <a:r>
              <a:rPr lang="en-US" sz="2400" dirty="0"/>
              <a:t>Notes:</a:t>
            </a:r>
          </a:p>
          <a:p>
            <a:pPr marL="342900" indent="-342900">
              <a:buFont typeface="Arial" panose="020B0604020202020204" pitchFamily="34" charset="0"/>
              <a:buChar char="•"/>
            </a:pPr>
            <a:r>
              <a:rPr lang="en-US" sz="2400" dirty="0"/>
              <a:t>The first 20 percent correction will normally have a bounce; an overshoot is common but still has high success rate for a bounce.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But a second test of support will have a high likelihood of breaking through major support so avoid.</a:t>
            </a:r>
          </a:p>
        </p:txBody>
      </p:sp>
      <p:sp>
        <p:nvSpPr>
          <p:cNvPr id="26" name="Rectangle 25">
            <a:extLst>
              <a:ext uri="{FF2B5EF4-FFF2-40B4-BE49-F238E27FC236}">
                <a16:creationId xmlns="" xmlns:a16="http://schemas.microsoft.com/office/drawing/2014/main" id="{3B886987-1550-4615-A1F7-7B2E234F1858}"/>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USING THE 20 PERCENT RULE AS MAJOR SUPPORT</a:t>
            </a:r>
          </a:p>
        </p:txBody>
      </p:sp>
    </p:spTree>
    <p:extLst>
      <p:ext uri="{BB962C8B-B14F-4D97-AF65-F5344CB8AC3E}">
        <p14:creationId xmlns:p14="http://schemas.microsoft.com/office/powerpoint/2010/main" val="2411999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NATURAL GAS</a:t>
            </a:r>
          </a:p>
        </p:txBody>
      </p:sp>
      <p:pic>
        <p:nvPicPr>
          <p:cNvPr id="4" name="Picture 3">
            <a:extLst>
              <a:ext uri="{FF2B5EF4-FFF2-40B4-BE49-F238E27FC236}">
                <a16:creationId xmlns="" xmlns:a16="http://schemas.microsoft.com/office/drawing/2014/main" id="{07B3541E-7574-43C0-9745-865D62FFBC5F}"/>
              </a:ext>
            </a:extLst>
          </p:cNvPr>
          <p:cNvPicPr>
            <a:picLocks noChangeAspect="1"/>
          </p:cNvPicPr>
          <p:nvPr/>
        </p:nvPicPr>
        <p:blipFill rotWithShape="1">
          <a:blip r:embed="rId2"/>
          <a:srcRect t="5000"/>
          <a:stretch/>
        </p:blipFill>
        <p:spPr>
          <a:xfrm>
            <a:off x="0" y="681036"/>
            <a:ext cx="12191999" cy="6176963"/>
          </a:xfrm>
          <a:prstGeom prst="rect">
            <a:avLst/>
          </a:prstGeom>
        </p:spPr>
      </p:pic>
      <p:cxnSp>
        <p:nvCxnSpPr>
          <p:cNvPr id="7" name="Straight Arrow Connector 6">
            <a:extLst>
              <a:ext uri="{FF2B5EF4-FFF2-40B4-BE49-F238E27FC236}">
                <a16:creationId xmlns="" xmlns:a16="http://schemas.microsoft.com/office/drawing/2014/main" id="{167A6BC1-84F1-4B5A-9ABC-6B784AD02B6A}"/>
              </a:ext>
            </a:extLst>
          </p:cNvPr>
          <p:cNvCxnSpPr/>
          <p:nvPr/>
        </p:nvCxnSpPr>
        <p:spPr>
          <a:xfrm>
            <a:off x="4286250" y="1085850"/>
            <a:ext cx="0" cy="2238375"/>
          </a:xfrm>
          <a:prstGeom prst="straightConnector1">
            <a:avLst/>
          </a:prstGeom>
          <a:ln w="5715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9" name="Freeform: Shape 8">
            <a:extLst>
              <a:ext uri="{FF2B5EF4-FFF2-40B4-BE49-F238E27FC236}">
                <a16:creationId xmlns="" xmlns:a16="http://schemas.microsoft.com/office/drawing/2014/main" id="{5C220C02-E859-4FC4-A575-49EAF8673547}"/>
              </a:ext>
            </a:extLst>
          </p:cNvPr>
          <p:cNvSpPr/>
          <p:nvPr/>
        </p:nvSpPr>
        <p:spPr>
          <a:xfrm>
            <a:off x="6760358" y="3457575"/>
            <a:ext cx="1222307" cy="154300"/>
          </a:xfrm>
          <a:custGeom>
            <a:avLst/>
            <a:gdLst>
              <a:gd name="connsiteX0" fmla="*/ 240517 w 1222307"/>
              <a:gd name="connsiteY0" fmla="*/ 85725 h 154300"/>
              <a:gd name="connsiteX1" fmla="*/ 364342 w 1222307"/>
              <a:gd name="connsiteY1" fmla="*/ 76200 h 154300"/>
              <a:gd name="connsiteX2" fmla="*/ 754867 w 1222307"/>
              <a:gd name="connsiteY2" fmla="*/ 66675 h 154300"/>
              <a:gd name="connsiteX3" fmla="*/ 773917 w 1222307"/>
              <a:gd name="connsiteY3" fmla="*/ 66675 h 154300"/>
              <a:gd name="connsiteX4" fmla="*/ 669142 w 1222307"/>
              <a:gd name="connsiteY4" fmla="*/ 57150 h 154300"/>
              <a:gd name="connsiteX5" fmla="*/ 611992 w 1222307"/>
              <a:gd name="connsiteY5" fmla="*/ 47625 h 154300"/>
              <a:gd name="connsiteX6" fmla="*/ 497692 w 1222307"/>
              <a:gd name="connsiteY6" fmla="*/ 38100 h 154300"/>
              <a:gd name="connsiteX7" fmla="*/ 259567 w 1222307"/>
              <a:gd name="connsiteY7" fmla="*/ 9525 h 154300"/>
              <a:gd name="connsiteX8" fmla="*/ 88117 w 1222307"/>
              <a:gd name="connsiteY8" fmla="*/ 0 h 154300"/>
              <a:gd name="connsiteX9" fmla="*/ 2392 w 1222307"/>
              <a:gd name="connsiteY9" fmla="*/ 9525 h 154300"/>
              <a:gd name="connsiteX10" fmla="*/ 40492 w 1222307"/>
              <a:gd name="connsiteY10" fmla="*/ 19050 h 154300"/>
              <a:gd name="connsiteX11" fmla="*/ 88117 w 1222307"/>
              <a:gd name="connsiteY11" fmla="*/ 28575 h 154300"/>
              <a:gd name="connsiteX12" fmla="*/ 326242 w 1222307"/>
              <a:gd name="connsiteY12" fmla="*/ 66675 h 154300"/>
              <a:gd name="connsiteX13" fmla="*/ 469117 w 1222307"/>
              <a:gd name="connsiteY13" fmla="*/ 85725 h 154300"/>
              <a:gd name="connsiteX14" fmla="*/ 716767 w 1222307"/>
              <a:gd name="connsiteY14" fmla="*/ 114300 h 154300"/>
              <a:gd name="connsiteX15" fmla="*/ 907267 w 1222307"/>
              <a:gd name="connsiteY15" fmla="*/ 142875 h 154300"/>
              <a:gd name="connsiteX16" fmla="*/ 1202542 w 1222307"/>
              <a:gd name="connsiteY16" fmla="*/ 152400 h 154300"/>
              <a:gd name="connsiteX17" fmla="*/ 735817 w 1222307"/>
              <a:gd name="connsiteY17" fmla="*/ 133350 h 154300"/>
              <a:gd name="connsiteX18" fmla="*/ 392917 w 1222307"/>
              <a:gd name="connsiteY18" fmla="*/ 95250 h 154300"/>
              <a:gd name="connsiteX19" fmla="*/ 269092 w 1222307"/>
              <a:gd name="connsiteY19" fmla="*/ 76200 h 154300"/>
              <a:gd name="connsiteX20" fmla="*/ 240517 w 1222307"/>
              <a:gd name="connsiteY20" fmla="*/ 66675 h 154300"/>
              <a:gd name="connsiteX21" fmla="*/ 383392 w 1222307"/>
              <a:gd name="connsiteY21" fmla="*/ 47625 h 154300"/>
              <a:gd name="connsiteX22" fmla="*/ 840592 w 1222307"/>
              <a:gd name="connsiteY22" fmla="*/ 57150 h 154300"/>
              <a:gd name="connsiteX23" fmla="*/ 1135867 w 1222307"/>
              <a:gd name="connsiteY23" fmla="*/ 66675 h 154300"/>
              <a:gd name="connsiteX24" fmla="*/ 1173967 w 1222307"/>
              <a:gd name="connsiteY24" fmla="*/ 76200 h 154300"/>
              <a:gd name="connsiteX25" fmla="*/ 1145392 w 1222307"/>
              <a:gd name="connsiteY25" fmla="*/ 85725 h 154300"/>
              <a:gd name="connsiteX26" fmla="*/ 1059667 w 1222307"/>
              <a:gd name="connsiteY26" fmla="*/ 95250 h 154300"/>
              <a:gd name="connsiteX27" fmla="*/ 907267 w 1222307"/>
              <a:gd name="connsiteY27" fmla="*/ 85725 h 154300"/>
              <a:gd name="connsiteX28" fmla="*/ 831067 w 1222307"/>
              <a:gd name="connsiteY28" fmla="*/ 76200 h 154300"/>
              <a:gd name="connsiteX29" fmla="*/ 621517 w 1222307"/>
              <a:gd name="connsiteY29" fmla="*/ 57150 h 154300"/>
              <a:gd name="connsiteX30" fmla="*/ 269092 w 1222307"/>
              <a:gd name="connsiteY30" fmla="*/ 38100 h 154300"/>
              <a:gd name="connsiteX31" fmla="*/ 364342 w 1222307"/>
              <a:gd name="connsiteY31" fmla="*/ 57150 h 154300"/>
              <a:gd name="connsiteX32" fmla="*/ 659617 w 1222307"/>
              <a:gd name="connsiteY32" fmla="*/ 47625 h 15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2307" h="154300">
                <a:moveTo>
                  <a:pt x="240517" y="85725"/>
                </a:moveTo>
                <a:cubicBezTo>
                  <a:pt x="281792" y="82550"/>
                  <a:pt x="322973" y="77732"/>
                  <a:pt x="364342" y="76200"/>
                </a:cubicBezTo>
                <a:cubicBezTo>
                  <a:pt x="494466" y="71381"/>
                  <a:pt x="624688" y="69702"/>
                  <a:pt x="754867" y="66675"/>
                </a:cubicBezTo>
                <a:cubicBezTo>
                  <a:pt x="761215" y="66527"/>
                  <a:pt x="773917" y="66675"/>
                  <a:pt x="773917" y="66675"/>
                </a:cubicBezTo>
                <a:cubicBezTo>
                  <a:pt x="738992" y="63500"/>
                  <a:pt x="703971" y="61248"/>
                  <a:pt x="669142" y="57150"/>
                </a:cubicBezTo>
                <a:cubicBezTo>
                  <a:pt x="649962" y="54893"/>
                  <a:pt x="631187" y="49758"/>
                  <a:pt x="611992" y="47625"/>
                </a:cubicBezTo>
                <a:cubicBezTo>
                  <a:pt x="573994" y="43403"/>
                  <a:pt x="535703" y="42209"/>
                  <a:pt x="497692" y="38100"/>
                </a:cubicBezTo>
                <a:cubicBezTo>
                  <a:pt x="418211" y="29507"/>
                  <a:pt x="339388" y="13960"/>
                  <a:pt x="259567" y="9525"/>
                </a:cubicBezTo>
                <a:lnTo>
                  <a:pt x="88117" y="0"/>
                </a:lnTo>
                <a:cubicBezTo>
                  <a:pt x="59542" y="3175"/>
                  <a:pt x="29086" y="-1153"/>
                  <a:pt x="2392" y="9525"/>
                </a:cubicBezTo>
                <a:cubicBezTo>
                  <a:pt x="-9763" y="14387"/>
                  <a:pt x="27713" y="16210"/>
                  <a:pt x="40492" y="19050"/>
                </a:cubicBezTo>
                <a:cubicBezTo>
                  <a:pt x="56296" y="22562"/>
                  <a:pt x="72148" y="25913"/>
                  <a:pt x="88117" y="28575"/>
                </a:cubicBezTo>
                <a:cubicBezTo>
                  <a:pt x="167408" y="41790"/>
                  <a:pt x="246563" y="56051"/>
                  <a:pt x="326242" y="66675"/>
                </a:cubicBezTo>
                <a:lnTo>
                  <a:pt x="469117" y="85725"/>
                </a:lnTo>
                <a:lnTo>
                  <a:pt x="716767" y="114300"/>
                </a:lnTo>
                <a:cubicBezTo>
                  <a:pt x="780438" y="122605"/>
                  <a:pt x="843253" y="137854"/>
                  <a:pt x="907267" y="142875"/>
                </a:cubicBezTo>
                <a:cubicBezTo>
                  <a:pt x="1005442" y="150575"/>
                  <a:pt x="1300867" y="157862"/>
                  <a:pt x="1202542" y="152400"/>
                </a:cubicBezTo>
                <a:cubicBezTo>
                  <a:pt x="1047077" y="143763"/>
                  <a:pt x="891392" y="139700"/>
                  <a:pt x="735817" y="133350"/>
                </a:cubicBezTo>
                <a:cubicBezTo>
                  <a:pt x="604108" y="121376"/>
                  <a:pt x="545766" y="117086"/>
                  <a:pt x="392917" y="95250"/>
                </a:cubicBezTo>
                <a:cubicBezTo>
                  <a:pt x="371648" y="92212"/>
                  <a:pt x="292881" y="81486"/>
                  <a:pt x="269092" y="76200"/>
                </a:cubicBezTo>
                <a:cubicBezTo>
                  <a:pt x="259291" y="74022"/>
                  <a:pt x="250042" y="69850"/>
                  <a:pt x="240517" y="66675"/>
                </a:cubicBezTo>
                <a:cubicBezTo>
                  <a:pt x="279042" y="60254"/>
                  <a:pt x="348419" y="47625"/>
                  <a:pt x="383392" y="47625"/>
                </a:cubicBezTo>
                <a:cubicBezTo>
                  <a:pt x="535825" y="47625"/>
                  <a:pt x="688208" y="53292"/>
                  <a:pt x="840592" y="57150"/>
                </a:cubicBezTo>
                <a:lnTo>
                  <a:pt x="1135867" y="66675"/>
                </a:lnTo>
                <a:cubicBezTo>
                  <a:pt x="1148567" y="69850"/>
                  <a:pt x="1168113" y="64491"/>
                  <a:pt x="1173967" y="76200"/>
                </a:cubicBezTo>
                <a:cubicBezTo>
                  <a:pt x="1178457" y="85180"/>
                  <a:pt x="1155296" y="84074"/>
                  <a:pt x="1145392" y="85725"/>
                </a:cubicBezTo>
                <a:cubicBezTo>
                  <a:pt x="1117032" y="90452"/>
                  <a:pt x="1088242" y="92075"/>
                  <a:pt x="1059667" y="95250"/>
                </a:cubicBezTo>
                <a:cubicBezTo>
                  <a:pt x="1008867" y="92075"/>
                  <a:pt x="957990" y="89952"/>
                  <a:pt x="907267" y="85725"/>
                </a:cubicBezTo>
                <a:cubicBezTo>
                  <a:pt x="881758" y="83599"/>
                  <a:pt x="856538" y="78747"/>
                  <a:pt x="831067" y="76200"/>
                </a:cubicBezTo>
                <a:lnTo>
                  <a:pt x="621517" y="57150"/>
                </a:lnTo>
                <a:cubicBezTo>
                  <a:pt x="476868" y="45096"/>
                  <a:pt x="431634" y="45167"/>
                  <a:pt x="269092" y="38100"/>
                </a:cubicBezTo>
                <a:cubicBezTo>
                  <a:pt x="300842" y="44450"/>
                  <a:pt x="332096" y="60081"/>
                  <a:pt x="364342" y="57150"/>
                </a:cubicBezTo>
                <a:cubicBezTo>
                  <a:pt x="532356" y="41876"/>
                  <a:pt x="434048" y="47625"/>
                  <a:pt x="659617" y="47625"/>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TextBox 9">
            <a:extLst>
              <a:ext uri="{FF2B5EF4-FFF2-40B4-BE49-F238E27FC236}">
                <a16:creationId xmlns="" xmlns:a16="http://schemas.microsoft.com/office/drawing/2014/main" id="{8F66414B-5CAA-4CC0-A02D-2D8D7A602355}"/>
              </a:ext>
            </a:extLst>
          </p:cNvPr>
          <p:cNvSpPr txBox="1"/>
          <p:nvPr/>
        </p:nvSpPr>
        <p:spPr>
          <a:xfrm>
            <a:off x="7982665" y="3400186"/>
            <a:ext cx="3171825" cy="369332"/>
          </a:xfrm>
          <a:prstGeom prst="rect">
            <a:avLst/>
          </a:prstGeom>
          <a:noFill/>
        </p:spPr>
        <p:txBody>
          <a:bodyPr wrap="square" rtlCol="0">
            <a:spAutoFit/>
          </a:bodyPr>
          <a:lstStyle/>
          <a:p>
            <a:r>
              <a:rPr lang="en-US" b="1" dirty="0"/>
              <a:t>The beauty of the 20% rule…</a:t>
            </a:r>
          </a:p>
        </p:txBody>
      </p:sp>
    </p:spTree>
    <p:extLst>
      <p:ext uri="{BB962C8B-B14F-4D97-AF65-F5344CB8AC3E}">
        <p14:creationId xmlns:p14="http://schemas.microsoft.com/office/powerpoint/2010/main" val="4119070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WTI OIL</a:t>
            </a:r>
          </a:p>
        </p:txBody>
      </p:sp>
      <p:pic>
        <p:nvPicPr>
          <p:cNvPr id="2" name="Picture 1">
            <a:extLst>
              <a:ext uri="{FF2B5EF4-FFF2-40B4-BE49-F238E27FC236}">
                <a16:creationId xmlns="" xmlns:a16="http://schemas.microsoft.com/office/drawing/2014/main" id="{62D3FB02-8986-4768-9655-3330B2B7FF83}"/>
              </a:ext>
            </a:extLst>
          </p:cNvPr>
          <p:cNvPicPr>
            <a:picLocks noChangeAspect="1"/>
          </p:cNvPicPr>
          <p:nvPr/>
        </p:nvPicPr>
        <p:blipFill>
          <a:blip r:embed="rId2"/>
          <a:stretch>
            <a:fillRect/>
          </a:stretch>
        </p:blipFill>
        <p:spPr>
          <a:xfrm>
            <a:off x="0" y="681036"/>
            <a:ext cx="12192000" cy="6176963"/>
          </a:xfrm>
          <a:prstGeom prst="rect">
            <a:avLst/>
          </a:prstGeom>
        </p:spPr>
      </p:pic>
      <p:sp>
        <p:nvSpPr>
          <p:cNvPr id="3" name="TextBox 2">
            <a:extLst>
              <a:ext uri="{FF2B5EF4-FFF2-40B4-BE49-F238E27FC236}">
                <a16:creationId xmlns="" xmlns:a16="http://schemas.microsoft.com/office/drawing/2014/main" id="{B5121AB8-EF30-4827-80C8-4F1ED44D3DD5}"/>
              </a:ext>
            </a:extLst>
          </p:cNvPr>
          <p:cNvSpPr txBox="1"/>
          <p:nvPr/>
        </p:nvSpPr>
        <p:spPr>
          <a:xfrm>
            <a:off x="9486900" y="1246494"/>
            <a:ext cx="2101850" cy="1938992"/>
          </a:xfrm>
          <a:prstGeom prst="rect">
            <a:avLst/>
          </a:prstGeom>
          <a:solidFill>
            <a:schemeClr val="bg1"/>
          </a:solidFill>
        </p:spPr>
        <p:txBody>
          <a:bodyPr wrap="square" rtlCol="0">
            <a:spAutoFit/>
          </a:bodyPr>
          <a:lstStyle/>
          <a:p>
            <a:r>
              <a:rPr lang="en-US" sz="2400" dirty="0"/>
              <a:t>The break below 20% pivot triggered sharper downside</a:t>
            </a:r>
          </a:p>
        </p:txBody>
      </p:sp>
      <p:sp>
        <p:nvSpPr>
          <p:cNvPr id="5" name="TextBox 4">
            <a:extLst>
              <a:ext uri="{FF2B5EF4-FFF2-40B4-BE49-F238E27FC236}">
                <a16:creationId xmlns="" xmlns:a16="http://schemas.microsoft.com/office/drawing/2014/main" id="{A25A55F6-EE11-45ED-A55F-BF6BBBA6EE61}"/>
              </a:ext>
            </a:extLst>
          </p:cNvPr>
          <p:cNvSpPr txBox="1"/>
          <p:nvPr/>
        </p:nvSpPr>
        <p:spPr>
          <a:xfrm>
            <a:off x="4381501" y="3543700"/>
            <a:ext cx="3667124" cy="1200329"/>
          </a:xfrm>
          <a:prstGeom prst="rect">
            <a:avLst/>
          </a:prstGeom>
          <a:noFill/>
        </p:spPr>
        <p:txBody>
          <a:bodyPr wrap="square" rtlCol="0">
            <a:spAutoFit/>
          </a:bodyPr>
          <a:lstStyle/>
          <a:p>
            <a:r>
              <a:rPr lang="en-US" sz="2400" dirty="0"/>
              <a:t>Approx. another 20% downside risk after breaking through 20% pivot</a:t>
            </a:r>
          </a:p>
        </p:txBody>
      </p:sp>
      <p:sp>
        <p:nvSpPr>
          <p:cNvPr id="8" name="Oval 7">
            <a:extLst>
              <a:ext uri="{FF2B5EF4-FFF2-40B4-BE49-F238E27FC236}">
                <a16:creationId xmlns="" xmlns:a16="http://schemas.microsoft.com/office/drawing/2014/main" id="{759FF05E-4318-4A2D-A200-796EF2454716}"/>
              </a:ext>
            </a:extLst>
          </p:cNvPr>
          <p:cNvSpPr/>
          <p:nvPr/>
        </p:nvSpPr>
        <p:spPr>
          <a:xfrm>
            <a:off x="9363075" y="3185486"/>
            <a:ext cx="1809750" cy="48702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 xmlns:a16="http://schemas.microsoft.com/office/drawing/2014/main" id="{DF3DEE90-973F-4822-ABCB-68E097602DF9}"/>
              </a:ext>
            </a:extLst>
          </p:cNvPr>
          <p:cNvSpPr/>
          <p:nvPr/>
        </p:nvSpPr>
        <p:spPr>
          <a:xfrm>
            <a:off x="7467600" y="4871411"/>
            <a:ext cx="1809750" cy="48702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7246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 xmlns:a16="http://schemas.microsoft.com/office/drawing/2014/main" id="{21E61F09-EC0F-4DDB-B301-F0D0182B85EA}"/>
              </a:ext>
            </a:extLst>
          </p:cNvPr>
          <p:cNvCxnSpPr/>
          <p:nvPr/>
        </p:nvCxnSpPr>
        <p:spPr>
          <a:xfrm flipV="1">
            <a:off x="219075" y="5092660"/>
            <a:ext cx="1171575" cy="1181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 xmlns:a16="http://schemas.microsoft.com/office/drawing/2014/main" id="{C067EC0F-97C0-474F-A3C6-3F11F624C981}"/>
              </a:ext>
            </a:extLst>
          </p:cNvPr>
          <p:cNvCxnSpPr/>
          <p:nvPr/>
        </p:nvCxnSpPr>
        <p:spPr>
          <a:xfrm>
            <a:off x="1390650" y="5092660"/>
            <a:ext cx="371475"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2917E7D0-0C6B-40B9-B352-2BCFF1FEDEBC}"/>
              </a:ext>
            </a:extLst>
          </p:cNvPr>
          <p:cNvCxnSpPr>
            <a:cxnSpLocks/>
          </p:cNvCxnSpPr>
          <p:nvPr/>
        </p:nvCxnSpPr>
        <p:spPr>
          <a:xfrm flipH="1">
            <a:off x="1762125" y="5054560"/>
            <a:ext cx="485775"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69E6D69E-9CD8-49FE-B917-BBB04F524421}"/>
              </a:ext>
            </a:extLst>
          </p:cNvPr>
          <p:cNvCxnSpPr/>
          <p:nvPr/>
        </p:nvCxnSpPr>
        <p:spPr>
          <a:xfrm>
            <a:off x="2247900" y="5073610"/>
            <a:ext cx="285750" cy="228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1BC2B92A-140B-493F-9039-F9B4667B54A6}"/>
              </a:ext>
            </a:extLst>
          </p:cNvPr>
          <p:cNvCxnSpPr>
            <a:cxnSpLocks/>
          </p:cNvCxnSpPr>
          <p:nvPr/>
        </p:nvCxnSpPr>
        <p:spPr>
          <a:xfrm flipV="1">
            <a:off x="2533650" y="2844760"/>
            <a:ext cx="1000125" cy="24574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52EE59F8-E47E-4111-9794-A9AEAECC462B}"/>
              </a:ext>
            </a:extLst>
          </p:cNvPr>
          <p:cNvCxnSpPr>
            <a:cxnSpLocks/>
          </p:cNvCxnSpPr>
          <p:nvPr/>
        </p:nvCxnSpPr>
        <p:spPr>
          <a:xfrm flipV="1">
            <a:off x="2085975" y="5287235"/>
            <a:ext cx="3009900" cy="149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D520ECEE-CF58-4981-903C-A1506A1C60DA}"/>
              </a:ext>
            </a:extLst>
          </p:cNvPr>
          <p:cNvCxnSpPr>
            <a:cxnSpLocks/>
          </p:cNvCxnSpPr>
          <p:nvPr/>
        </p:nvCxnSpPr>
        <p:spPr>
          <a:xfrm flipV="1">
            <a:off x="2933700" y="2831065"/>
            <a:ext cx="2752725" cy="136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A7C7DE8F-3FC4-4011-89CA-68C03E146534}"/>
              </a:ext>
            </a:extLst>
          </p:cNvPr>
          <p:cNvCxnSpPr>
            <a:cxnSpLocks/>
          </p:cNvCxnSpPr>
          <p:nvPr/>
        </p:nvCxnSpPr>
        <p:spPr>
          <a:xfrm flipV="1">
            <a:off x="3033712" y="2192890"/>
            <a:ext cx="2752725" cy="136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 xmlns:a16="http://schemas.microsoft.com/office/drawing/2014/main" id="{5F6EBC8D-A54C-406D-8294-518BE7060046}"/>
              </a:ext>
            </a:extLst>
          </p:cNvPr>
          <p:cNvCxnSpPr>
            <a:cxnSpLocks/>
          </p:cNvCxnSpPr>
          <p:nvPr/>
        </p:nvCxnSpPr>
        <p:spPr>
          <a:xfrm flipV="1">
            <a:off x="3724275" y="1120735"/>
            <a:ext cx="441916" cy="10858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 xmlns:a16="http://schemas.microsoft.com/office/drawing/2014/main" id="{C1069D3F-3014-44D5-8FF5-BE79530FA3F1}"/>
              </a:ext>
            </a:extLst>
          </p:cNvPr>
          <p:cNvCxnSpPr/>
          <p:nvPr/>
        </p:nvCxnSpPr>
        <p:spPr>
          <a:xfrm flipV="1">
            <a:off x="4262437" y="2901910"/>
            <a:ext cx="0" cy="23431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 xmlns:a16="http://schemas.microsoft.com/office/drawing/2014/main" id="{001CDF20-3546-44C0-AA3D-D9663ADD5117}"/>
              </a:ext>
            </a:extLst>
          </p:cNvPr>
          <p:cNvSpPr txBox="1"/>
          <p:nvPr/>
        </p:nvSpPr>
        <p:spPr>
          <a:xfrm>
            <a:off x="3192464" y="3806786"/>
            <a:ext cx="3806822" cy="400110"/>
          </a:xfrm>
          <a:prstGeom prst="rect">
            <a:avLst/>
          </a:prstGeom>
          <a:solidFill>
            <a:schemeClr val="bg1"/>
          </a:solidFill>
        </p:spPr>
        <p:txBody>
          <a:bodyPr wrap="square" rtlCol="0">
            <a:spAutoFit/>
          </a:bodyPr>
          <a:lstStyle/>
          <a:p>
            <a:pPr algn="ctr"/>
            <a:r>
              <a:rPr lang="en-US" sz="2000" b="1" dirty="0"/>
              <a:t>ceiling = price up 50 percent</a:t>
            </a:r>
          </a:p>
        </p:txBody>
      </p:sp>
      <p:sp>
        <p:nvSpPr>
          <p:cNvPr id="40" name="TextBox 39">
            <a:extLst>
              <a:ext uri="{FF2B5EF4-FFF2-40B4-BE49-F238E27FC236}">
                <a16:creationId xmlns="" xmlns:a16="http://schemas.microsoft.com/office/drawing/2014/main" id="{D0793BE0-74CF-4968-96F7-9BDE2EB87118}"/>
              </a:ext>
            </a:extLst>
          </p:cNvPr>
          <p:cNvSpPr txBox="1"/>
          <p:nvPr/>
        </p:nvSpPr>
        <p:spPr>
          <a:xfrm>
            <a:off x="2247900" y="5315905"/>
            <a:ext cx="685800" cy="369332"/>
          </a:xfrm>
          <a:prstGeom prst="rect">
            <a:avLst/>
          </a:prstGeom>
          <a:noFill/>
        </p:spPr>
        <p:txBody>
          <a:bodyPr wrap="square" rtlCol="0">
            <a:spAutoFit/>
          </a:bodyPr>
          <a:lstStyle/>
          <a:p>
            <a:r>
              <a:rPr lang="en-US" b="1" dirty="0"/>
              <a:t>1.00</a:t>
            </a:r>
          </a:p>
        </p:txBody>
      </p:sp>
      <p:sp>
        <p:nvSpPr>
          <p:cNvPr id="41" name="TextBox 40">
            <a:extLst>
              <a:ext uri="{FF2B5EF4-FFF2-40B4-BE49-F238E27FC236}">
                <a16:creationId xmlns="" xmlns:a16="http://schemas.microsoft.com/office/drawing/2014/main" id="{4780BBC2-8230-42EA-9125-7E64551B01A0}"/>
              </a:ext>
            </a:extLst>
          </p:cNvPr>
          <p:cNvSpPr txBox="1"/>
          <p:nvPr/>
        </p:nvSpPr>
        <p:spPr>
          <a:xfrm>
            <a:off x="2347912" y="2660094"/>
            <a:ext cx="685800" cy="369332"/>
          </a:xfrm>
          <a:prstGeom prst="rect">
            <a:avLst/>
          </a:prstGeom>
          <a:noFill/>
        </p:spPr>
        <p:txBody>
          <a:bodyPr wrap="square" rtlCol="0">
            <a:spAutoFit/>
          </a:bodyPr>
          <a:lstStyle/>
          <a:p>
            <a:r>
              <a:rPr lang="en-US" b="1" dirty="0"/>
              <a:t>1.50</a:t>
            </a:r>
          </a:p>
        </p:txBody>
      </p:sp>
      <p:sp>
        <p:nvSpPr>
          <p:cNvPr id="42" name="TextBox 41">
            <a:extLst>
              <a:ext uri="{FF2B5EF4-FFF2-40B4-BE49-F238E27FC236}">
                <a16:creationId xmlns="" xmlns:a16="http://schemas.microsoft.com/office/drawing/2014/main" id="{A496493C-AB2A-42FD-9FAF-6AF2A3783D9D}"/>
              </a:ext>
            </a:extLst>
          </p:cNvPr>
          <p:cNvSpPr txBox="1"/>
          <p:nvPr/>
        </p:nvSpPr>
        <p:spPr>
          <a:xfrm>
            <a:off x="2347912" y="2021919"/>
            <a:ext cx="685800" cy="369332"/>
          </a:xfrm>
          <a:prstGeom prst="rect">
            <a:avLst/>
          </a:prstGeom>
          <a:noFill/>
        </p:spPr>
        <p:txBody>
          <a:bodyPr wrap="square" rtlCol="0">
            <a:spAutoFit/>
          </a:bodyPr>
          <a:lstStyle/>
          <a:p>
            <a:r>
              <a:rPr lang="en-US" b="1" dirty="0"/>
              <a:t>1.80</a:t>
            </a:r>
          </a:p>
        </p:txBody>
      </p:sp>
      <p:sp>
        <p:nvSpPr>
          <p:cNvPr id="43" name="TextBox 42">
            <a:extLst>
              <a:ext uri="{FF2B5EF4-FFF2-40B4-BE49-F238E27FC236}">
                <a16:creationId xmlns="" xmlns:a16="http://schemas.microsoft.com/office/drawing/2014/main" id="{B3DCE58F-0575-462D-8D98-27F8B6B3AE28}"/>
              </a:ext>
            </a:extLst>
          </p:cNvPr>
          <p:cNvSpPr txBox="1"/>
          <p:nvPr/>
        </p:nvSpPr>
        <p:spPr>
          <a:xfrm>
            <a:off x="6715126" y="681037"/>
            <a:ext cx="5476870" cy="4001095"/>
          </a:xfrm>
          <a:prstGeom prst="rect">
            <a:avLst/>
          </a:prstGeom>
          <a:solidFill>
            <a:schemeClr val="bg1">
              <a:lumMod val="85000"/>
            </a:schemeClr>
          </a:solidFill>
        </p:spPr>
        <p:txBody>
          <a:bodyPr wrap="square" rtlCol="0">
            <a:spAutoFit/>
          </a:bodyPr>
          <a:lstStyle/>
          <a:p>
            <a:r>
              <a:rPr lang="en-US" sz="2400" b="1" dirty="0"/>
              <a:t>How to use 20% pivot rule:</a:t>
            </a:r>
          </a:p>
          <a:p>
            <a:endParaRPr lang="en-US" dirty="0"/>
          </a:p>
          <a:p>
            <a:pPr marL="457200" indent="-457200">
              <a:buFont typeface="+mj-lt"/>
              <a:buAutoNum type="arabicPeriod"/>
            </a:pPr>
            <a:r>
              <a:rPr lang="en-US" dirty="0"/>
              <a:t>After a ceiling day, price must gain +20% on the follow-through day to signal strong momentum.</a:t>
            </a:r>
          </a:p>
          <a:p>
            <a:pPr marL="457200" indent="-457200">
              <a:buFont typeface="+mj-lt"/>
              <a:buAutoNum type="arabicPeriod"/>
            </a:pPr>
            <a:endParaRPr lang="en-US" dirty="0"/>
          </a:p>
          <a:p>
            <a:pPr marL="457200" indent="-457200">
              <a:buFont typeface="+mj-lt"/>
              <a:buAutoNum type="arabicPeriod"/>
            </a:pPr>
            <a:r>
              <a:rPr lang="en-US" dirty="0"/>
              <a:t>If open price on follow-through day is less than a +20% gain then take profits/slice. </a:t>
            </a:r>
          </a:p>
          <a:p>
            <a:pPr marL="457200" indent="-457200">
              <a:buFont typeface="+mj-lt"/>
              <a:buAutoNum type="arabicPeriod"/>
            </a:pPr>
            <a:endParaRPr lang="en-US" dirty="0"/>
          </a:p>
          <a:p>
            <a:pPr marL="457200" indent="-457200">
              <a:buFont typeface="+mj-lt"/>
              <a:buAutoNum type="arabicPeriod"/>
            </a:pPr>
            <a:r>
              <a:rPr lang="en-US" dirty="0"/>
              <a:t>If open price advanced more than +20% then use open price as pivot. Slice/sell if price goes below open price. Sell all if gain falls below 20% gain.</a:t>
            </a:r>
          </a:p>
          <a:p>
            <a:pPr marL="457200" indent="-457200">
              <a:buFont typeface="+mj-lt"/>
              <a:buAutoNum type="arabicPeriod"/>
            </a:pPr>
            <a:endParaRPr lang="en-US" dirty="0"/>
          </a:p>
          <a:p>
            <a:endParaRPr lang="en-US" sz="3200" dirty="0"/>
          </a:p>
        </p:txBody>
      </p:sp>
      <p:sp>
        <p:nvSpPr>
          <p:cNvPr id="44" name="TextBox 43">
            <a:extLst>
              <a:ext uri="{FF2B5EF4-FFF2-40B4-BE49-F238E27FC236}">
                <a16:creationId xmlns="" xmlns:a16="http://schemas.microsoft.com/office/drawing/2014/main" id="{CE24C5CF-9D64-4570-A462-9DB6F1E63139}"/>
              </a:ext>
            </a:extLst>
          </p:cNvPr>
          <p:cNvSpPr txBox="1"/>
          <p:nvPr/>
        </p:nvSpPr>
        <p:spPr>
          <a:xfrm>
            <a:off x="6715126" y="4488120"/>
            <a:ext cx="5476863" cy="2369880"/>
          </a:xfrm>
          <a:prstGeom prst="rect">
            <a:avLst/>
          </a:prstGeom>
          <a:solidFill>
            <a:srgbClr val="FFFF00"/>
          </a:solidFill>
        </p:spPr>
        <p:txBody>
          <a:bodyPr wrap="square" rtlCol="0">
            <a:spAutoFit/>
          </a:bodyPr>
          <a:lstStyle/>
          <a:p>
            <a:r>
              <a:rPr lang="en-US" dirty="0"/>
              <a:t>Example:</a:t>
            </a:r>
          </a:p>
          <a:p>
            <a:pPr marL="342900" indent="-342900">
              <a:buAutoNum type="arabicPeriod"/>
            </a:pPr>
            <a:r>
              <a:rPr lang="en-US" dirty="0"/>
              <a:t>If price opens 1.80 or higher then hold. Be disciplined and ride winner.</a:t>
            </a:r>
          </a:p>
          <a:p>
            <a:pPr marL="342900" indent="-342900">
              <a:buAutoNum type="arabicPeriod"/>
            </a:pPr>
            <a:r>
              <a:rPr lang="en-US" dirty="0"/>
              <a:t>If price opens below 1.80 but above 1.50, then sell/slice since it’s below the 20% pivot. </a:t>
            </a:r>
          </a:p>
          <a:p>
            <a:pPr marL="342900" indent="-342900">
              <a:buAutoNum type="arabicPeriod"/>
            </a:pPr>
            <a:r>
              <a:rPr lang="en-US" dirty="0"/>
              <a:t>If price opens at 1.83 and rallies to 1.90, slice if it breaks below 1.83 open. Sell all if below 1.80.</a:t>
            </a:r>
            <a:br>
              <a:rPr lang="en-US" dirty="0"/>
            </a:br>
            <a:endParaRPr lang="en-US" dirty="0"/>
          </a:p>
          <a:p>
            <a:endParaRPr lang="en-US" sz="200" dirty="0"/>
          </a:p>
        </p:txBody>
      </p:sp>
      <p:sp>
        <p:nvSpPr>
          <p:cNvPr id="47" name="Rectangle 46">
            <a:extLst>
              <a:ext uri="{FF2B5EF4-FFF2-40B4-BE49-F238E27FC236}">
                <a16:creationId xmlns="" xmlns:a16="http://schemas.microsoft.com/office/drawing/2014/main" id="{ED4CE57C-82DC-4E14-AA9D-8EB3D9AD3C6C}"/>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USING THE 20 PERCENT RULE FOR FOLLOW-THRU PLAY</a:t>
            </a:r>
          </a:p>
        </p:txBody>
      </p:sp>
    </p:spTree>
    <p:extLst>
      <p:ext uri="{BB962C8B-B14F-4D97-AF65-F5344CB8AC3E}">
        <p14:creationId xmlns:p14="http://schemas.microsoft.com/office/powerpoint/2010/main" val="24969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DOUBLE DRAGON</a:t>
            </a:r>
          </a:p>
        </p:txBody>
      </p:sp>
      <p:pic>
        <p:nvPicPr>
          <p:cNvPr id="3" name="Picture 2">
            <a:extLst>
              <a:ext uri="{FF2B5EF4-FFF2-40B4-BE49-F238E27FC236}">
                <a16:creationId xmlns="" xmlns:a16="http://schemas.microsoft.com/office/drawing/2014/main" id="{35D0A24F-71D7-49FC-AF31-38D09236C966}"/>
              </a:ext>
            </a:extLst>
          </p:cNvPr>
          <p:cNvPicPr>
            <a:picLocks noChangeAspect="1"/>
          </p:cNvPicPr>
          <p:nvPr/>
        </p:nvPicPr>
        <p:blipFill>
          <a:blip r:embed="rId2"/>
          <a:stretch>
            <a:fillRect/>
          </a:stretch>
        </p:blipFill>
        <p:spPr>
          <a:xfrm>
            <a:off x="0" y="681037"/>
            <a:ext cx="12192000" cy="6176963"/>
          </a:xfrm>
          <a:prstGeom prst="rect">
            <a:avLst/>
          </a:prstGeom>
        </p:spPr>
      </p:pic>
    </p:spTree>
    <p:extLst>
      <p:ext uri="{BB962C8B-B14F-4D97-AF65-F5344CB8AC3E}">
        <p14:creationId xmlns:p14="http://schemas.microsoft.com/office/powerpoint/2010/main" val="3634645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ECP</a:t>
            </a:r>
          </a:p>
        </p:txBody>
      </p:sp>
      <p:sp>
        <p:nvSpPr>
          <p:cNvPr id="5" name="Rectangle 4">
            <a:extLst>
              <a:ext uri="{FF2B5EF4-FFF2-40B4-BE49-F238E27FC236}">
                <a16:creationId xmlns="" xmlns:a16="http://schemas.microsoft.com/office/drawing/2014/main" id="{B260DCEB-CB2B-463D-846A-3BBD02EBC6C1}"/>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smtClean="0">
                <a:solidFill>
                  <a:schemeClr val="tx1"/>
                </a:solidFill>
              </a:rPr>
              <a:t>Follow-through on 11/28 </a:t>
            </a:r>
            <a:r>
              <a:rPr lang="en-US" dirty="0">
                <a:solidFill>
                  <a:schemeClr val="tx1"/>
                </a:solidFill>
              </a:rPr>
              <a:t>must breach 20% at open / early trading. Otherwise ditch.</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A stock that completes a third day ceiling are very risky.</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Trading a fourth day ceiling play is silly and will always end in tears for those who chase. </a:t>
            </a:r>
          </a:p>
        </p:txBody>
      </p:sp>
      <p:pic>
        <p:nvPicPr>
          <p:cNvPr id="3" name="Picture 2">
            <a:extLst>
              <a:ext uri="{FF2B5EF4-FFF2-40B4-BE49-F238E27FC236}">
                <a16:creationId xmlns="" xmlns:a16="http://schemas.microsoft.com/office/drawing/2014/main" id="{CBA5C096-9F74-4E18-AA8F-0954D0D9DA88}"/>
              </a:ext>
            </a:extLst>
          </p:cNvPr>
          <p:cNvPicPr>
            <a:picLocks noChangeAspect="1"/>
          </p:cNvPicPr>
          <p:nvPr/>
        </p:nvPicPr>
        <p:blipFill>
          <a:blip r:embed="rId2"/>
          <a:stretch>
            <a:fillRect/>
          </a:stretch>
        </p:blipFill>
        <p:spPr>
          <a:xfrm>
            <a:off x="-1" y="681035"/>
            <a:ext cx="9424189" cy="6176961"/>
          </a:xfrm>
          <a:prstGeom prst="rect">
            <a:avLst/>
          </a:prstGeom>
        </p:spPr>
      </p:pic>
    </p:spTree>
    <p:extLst>
      <p:ext uri="{BB962C8B-B14F-4D97-AF65-F5344CB8AC3E}">
        <p14:creationId xmlns:p14="http://schemas.microsoft.com/office/powerpoint/2010/main" val="3504332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ECP</a:t>
            </a:r>
          </a:p>
        </p:txBody>
      </p:sp>
      <p:sp>
        <p:nvSpPr>
          <p:cNvPr id="5" name="Rectangle 4">
            <a:extLst>
              <a:ext uri="{FF2B5EF4-FFF2-40B4-BE49-F238E27FC236}">
                <a16:creationId xmlns="" xmlns:a16="http://schemas.microsoft.com/office/drawing/2014/main" id="{B260DCEB-CB2B-463D-846A-3BBD02EBC6C1}"/>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smtClean="0">
                <a:solidFill>
                  <a:schemeClr val="tx1"/>
                </a:solidFill>
              </a:rPr>
              <a:t>On 11/28 ECP opened at 26.00 with high of 26.45, and recovered well from the low of 13 to close at 22.40</a:t>
            </a:r>
            <a:endParaRPr lang="en-US" dirty="0">
              <a:solidFill>
                <a:schemeClr val="tx1"/>
              </a:solidFill>
            </a:endParaRP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smtClean="0">
                <a:solidFill>
                  <a:schemeClr val="tx1"/>
                </a:solidFill>
              </a:rPr>
              <a:t>Early formation of precedence pattern equates to wide range and great volatility, until said pattern materialized</a:t>
            </a:r>
            <a:endParaRPr lang="en-US" dirty="0">
              <a:solidFill>
                <a:schemeClr val="tx1"/>
              </a:solidFill>
            </a:endParaRPr>
          </a:p>
          <a:p>
            <a:pPr marL="457200" indent="-457200">
              <a:buFont typeface="+mj-lt"/>
              <a:buAutoNum type="arabicPeriod"/>
            </a:pPr>
            <a:endParaRPr lang="en-US" dirty="0" smtClean="0">
              <a:solidFill>
                <a:schemeClr val="tx1"/>
              </a:solidFill>
            </a:endParaRPr>
          </a:p>
          <a:p>
            <a:pPr marL="457200" indent="-457200">
              <a:buFont typeface="+mj-lt"/>
              <a:buAutoNum type="arabicPeriod"/>
            </a:pPr>
            <a:r>
              <a:rPr lang="en-US" dirty="0" smtClean="0">
                <a:solidFill>
                  <a:schemeClr val="tx1"/>
                </a:solidFill>
              </a:rPr>
              <a:t>Precedence pattern can be </a:t>
            </a:r>
            <a:r>
              <a:rPr lang="en-US" dirty="0" err="1" smtClean="0">
                <a:solidFill>
                  <a:schemeClr val="tx1"/>
                </a:solidFill>
              </a:rPr>
              <a:t>wedgies</a:t>
            </a:r>
            <a:r>
              <a:rPr lang="en-US" dirty="0" smtClean="0">
                <a:solidFill>
                  <a:schemeClr val="tx1"/>
                </a:solidFill>
              </a:rPr>
              <a:t>, </a:t>
            </a:r>
            <a:r>
              <a:rPr lang="en-US" dirty="0" err="1" smtClean="0">
                <a:solidFill>
                  <a:schemeClr val="tx1"/>
                </a:solidFill>
              </a:rPr>
              <a:t>penant</a:t>
            </a:r>
            <a:r>
              <a:rPr lang="en-US" dirty="0" smtClean="0">
                <a:solidFill>
                  <a:schemeClr val="tx1"/>
                </a:solidFill>
              </a:rPr>
              <a:t>, flag, triangles</a:t>
            </a:r>
            <a:endParaRPr lang="en-US" dirty="0">
              <a:solidFill>
                <a:schemeClr val="tx1"/>
              </a:solidFill>
            </a:endParaRPr>
          </a:p>
        </p:txBody>
      </p:sp>
      <p:pic>
        <p:nvPicPr>
          <p:cNvPr id="3" name="Picture 2">
            <a:extLst>
              <a:ext uri="{FF2B5EF4-FFF2-40B4-BE49-F238E27FC236}">
                <a16:creationId xmlns="" xmlns:a16="http://schemas.microsoft.com/office/drawing/2014/main" id="{CBA5C096-9F74-4E18-AA8F-0954D0D9DA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3" y="681034"/>
            <a:ext cx="9356848" cy="6176961"/>
          </a:xfrm>
          <a:prstGeom prst="rect">
            <a:avLst/>
          </a:prstGeom>
        </p:spPr>
      </p:pic>
    </p:spTree>
    <p:extLst>
      <p:ext uri="{BB962C8B-B14F-4D97-AF65-F5344CB8AC3E}">
        <p14:creationId xmlns:p14="http://schemas.microsoft.com/office/powerpoint/2010/main" val="1806448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DAVIN (I)</a:t>
            </a:r>
          </a:p>
        </p:txBody>
      </p:sp>
      <p:pic>
        <p:nvPicPr>
          <p:cNvPr id="8" name="Picture 7">
            <a:extLst>
              <a:ext uri="{FF2B5EF4-FFF2-40B4-BE49-F238E27FC236}">
                <a16:creationId xmlns="" xmlns:a16="http://schemas.microsoft.com/office/drawing/2014/main" id="{628B7FA7-850D-408C-ABD2-5C1B2A8CEFE8}"/>
              </a:ext>
            </a:extLst>
          </p:cNvPr>
          <p:cNvPicPr>
            <a:picLocks noChangeAspect="1"/>
          </p:cNvPicPr>
          <p:nvPr/>
        </p:nvPicPr>
        <p:blipFill>
          <a:blip r:embed="rId2"/>
          <a:stretch>
            <a:fillRect/>
          </a:stretch>
        </p:blipFill>
        <p:spPr>
          <a:xfrm>
            <a:off x="0" y="681036"/>
            <a:ext cx="12192000" cy="6176963"/>
          </a:xfrm>
          <a:prstGeom prst="rect">
            <a:avLst/>
          </a:prstGeom>
        </p:spPr>
      </p:pic>
    </p:spTree>
    <p:extLst>
      <p:ext uri="{BB962C8B-B14F-4D97-AF65-F5344CB8AC3E}">
        <p14:creationId xmlns:p14="http://schemas.microsoft.com/office/powerpoint/2010/main" val="4001147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DAVIN (II)</a:t>
            </a:r>
          </a:p>
        </p:txBody>
      </p:sp>
      <p:pic>
        <p:nvPicPr>
          <p:cNvPr id="2" name="Picture 1">
            <a:extLst>
              <a:ext uri="{FF2B5EF4-FFF2-40B4-BE49-F238E27FC236}">
                <a16:creationId xmlns="" xmlns:a16="http://schemas.microsoft.com/office/drawing/2014/main" id="{59A0B3C6-550E-405B-8A1A-A446A761147C}"/>
              </a:ext>
            </a:extLst>
          </p:cNvPr>
          <p:cNvPicPr>
            <a:picLocks noChangeAspect="1"/>
          </p:cNvPicPr>
          <p:nvPr/>
        </p:nvPicPr>
        <p:blipFill>
          <a:blip r:embed="rId2"/>
          <a:stretch>
            <a:fillRect/>
          </a:stretch>
        </p:blipFill>
        <p:spPr>
          <a:xfrm>
            <a:off x="0" y="681037"/>
            <a:ext cx="9429751" cy="6176963"/>
          </a:xfrm>
          <a:prstGeom prst="rect">
            <a:avLst/>
          </a:prstGeom>
        </p:spPr>
      </p:pic>
      <p:sp>
        <p:nvSpPr>
          <p:cNvPr id="5" name="Rectangle 4">
            <a:extLst>
              <a:ext uri="{FF2B5EF4-FFF2-40B4-BE49-F238E27FC236}">
                <a16:creationId xmlns="" xmlns:a16="http://schemas.microsoft.com/office/drawing/2014/main" id="{B260DCEB-CB2B-463D-846A-3BBD02EBC6C1}"/>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a:solidFill>
                  <a:schemeClr val="tx1"/>
                </a:solidFill>
              </a:rPr>
              <a:t>New high of day means 2.70 x 0.90 = 2.43 max momentum correction to stay bullish.</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Ceiling play will typically have two attempts.  This means that 2.46 needs to hold after hitting 2.74 otherwise olats. Any correction &gt; 10% after a parabolic is a momentum killer.</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At oversold levels after a paraburst, can trade bounce, but must sell quickly the next day.</a:t>
            </a:r>
          </a:p>
        </p:txBody>
      </p:sp>
    </p:spTree>
    <p:extLst>
      <p:ext uri="{BB962C8B-B14F-4D97-AF65-F5344CB8AC3E}">
        <p14:creationId xmlns:p14="http://schemas.microsoft.com/office/powerpoint/2010/main" val="645463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ANATOMY OF A CEILING PLAY</a:t>
            </a:r>
          </a:p>
        </p:txBody>
      </p:sp>
      <p:pic>
        <p:nvPicPr>
          <p:cNvPr id="2" name="Picture 1">
            <a:extLst>
              <a:ext uri="{FF2B5EF4-FFF2-40B4-BE49-F238E27FC236}">
                <a16:creationId xmlns="" xmlns:a16="http://schemas.microsoft.com/office/drawing/2014/main" id="{6923695A-F3D9-4A94-B2C1-013B18F6EAF0}"/>
              </a:ext>
            </a:extLst>
          </p:cNvPr>
          <p:cNvPicPr>
            <a:picLocks noChangeAspect="1"/>
          </p:cNvPicPr>
          <p:nvPr/>
        </p:nvPicPr>
        <p:blipFill>
          <a:blip r:embed="rId2"/>
          <a:stretch>
            <a:fillRect/>
          </a:stretch>
        </p:blipFill>
        <p:spPr>
          <a:xfrm>
            <a:off x="0" y="681037"/>
            <a:ext cx="12192000" cy="6176963"/>
          </a:xfrm>
          <a:prstGeom prst="rect">
            <a:avLst/>
          </a:prstGeom>
        </p:spPr>
      </p:pic>
    </p:spTree>
    <p:extLst>
      <p:ext uri="{BB962C8B-B14F-4D97-AF65-F5344CB8AC3E}">
        <p14:creationId xmlns:p14="http://schemas.microsoft.com/office/powerpoint/2010/main" val="3657463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THE 20 PERCENT RULE AS PIVOT FOR IPOs</a:t>
            </a:r>
          </a:p>
        </p:txBody>
      </p:sp>
      <p:pic>
        <p:nvPicPr>
          <p:cNvPr id="5" name="Picture 4">
            <a:extLst>
              <a:ext uri="{FF2B5EF4-FFF2-40B4-BE49-F238E27FC236}">
                <a16:creationId xmlns="" xmlns:a16="http://schemas.microsoft.com/office/drawing/2014/main" id="{654570B6-0A9B-49D2-A85D-31B599ACC95A}"/>
              </a:ext>
            </a:extLst>
          </p:cNvPr>
          <p:cNvPicPr>
            <a:picLocks noChangeAspect="1"/>
          </p:cNvPicPr>
          <p:nvPr/>
        </p:nvPicPr>
        <p:blipFill>
          <a:blip r:embed="rId2"/>
          <a:stretch>
            <a:fillRect/>
          </a:stretch>
        </p:blipFill>
        <p:spPr>
          <a:xfrm>
            <a:off x="0" y="681036"/>
            <a:ext cx="9429751" cy="6176963"/>
          </a:xfrm>
          <a:prstGeom prst="rect">
            <a:avLst/>
          </a:prstGeom>
        </p:spPr>
      </p:pic>
      <p:sp>
        <p:nvSpPr>
          <p:cNvPr id="7" name="Rectangle 6">
            <a:extLst>
              <a:ext uri="{FF2B5EF4-FFF2-40B4-BE49-F238E27FC236}">
                <a16:creationId xmlns="" xmlns:a16="http://schemas.microsoft.com/office/drawing/2014/main" id="{5FEBE4A5-AF03-4357-831A-AD4C1B2EE6AE}"/>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a:solidFill>
                  <a:schemeClr val="tx1"/>
                </a:solidFill>
              </a:rPr>
              <a:t>Use 20% as first day hurdle rate for assessing strength of an IPO stock. </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If IPO stock gains less than 20% on first day, ditch. </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Sell at ceiling if bid volume diminishing. </a:t>
            </a:r>
          </a:p>
          <a:p>
            <a:pPr marL="457200" indent="-457200">
              <a:buFont typeface="+mj-lt"/>
              <a:buAutoNum type="arabicPeriod"/>
            </a:pPr>
            <a:endParaRPr lang="en-US" dirty="0">
              <a:solidFill>
                <a:schemeClr val="tx1"/>
              </a:solidFill>
            </a:endParaRPr>
          </a:p>
          <a:p>
            <a:pPr marL="457200" indent="-457200">
              <a:buFont typeface="+mj-lt"/>
              <a:buAutoNum type="arabicPeriod"/>
            </a:pPr>
            <a:r>
              <a:rPr lang="en-US" dirty="0">
                <a:solidFill>
                  <a:schemeClr val="tx1"/>
                </a:solidFill>
              </a:rPr>
              <a:t>Sell if price corrects 10% after hitting ceiling. </a:t>
            </a:r>
          </a:p>
        </p:txBody>
      </p:sp>
      <p:sp>
        <p:nvSpPr>
          <p:cNvPr id="8" name="TextBox 7">
            <a:extLst>
              <a:ext uri="{FF2B5EF4-FFF2-40B4-BE49-F238E27FC236}">
                <a16:creationId xmlns="" xmlns:a16="http://schemas.microsoft.com/office/drawing/2014/main" id="{2299D970-49FD-4A05-822D-FAF9BAEBA474}"/>
              </a:ext>
            </a:extLst>
          </p:cNvPr>
          <p:cNvSpPr txBox="1"/>
          <p:nvPr/>
        </p:nvSpPr>
        <p:spPr>
          <a:xfrm>
            <a:off x="123824" y="2752725"/>
            <a:ext cx="2638425" cy="369332"/>
          </a:xfrm>
          <a:prstGeom prst="rect">
            <a:avLst/>
          </a:prstGeom>
          <a:noFill/>
        </p:spPr>
        <p:txBody>
          <a:bodyPr wrap="square" rtlCol="0">
            <a:spAutoFit/>
          </a:bodyPr>
          <a:lstStyle/>
          <a:p>
            <a:r>
              <a:rPr lang="en-US" b="1" dirty="0"/>
              <a:t>MRSGI IPO PRICE = 3.99</a:t>
            </a:r>
          </a:p>
        </p:txBody>
      </p:sp>
      <p:sp>
        <p:nvSpPr>
          <p:cNvPr id="9" name="TextBox 8">
            <a:extLst>
              <a:ext uri="{FF2B5EF4-FFF2-40B4-BE49-F238E27FC236}">
                <a16:creationId xmlns="" xmlns:a16="http://schemas.microsoft.com/office/drawing/2014/main" id="{F34EBE93-6B6C-41CA-985B-D0C75E8EF136}"/>
              </a:ext>
            </a:extLst>
          </p:cNvPr>
          <p:cNvSpPr txBox="1"/>
          <p:nvPr/>
        </p:nvSpPr>
        <p:spPr>
          <a:xfrm>
            <a:off x="123823" y="1096208"/>
            <a:ext cx="2638425" cy="369332"/>
          </a:xfrm>
          <a:prstGeom prst="rect">
            <a:avLst/>
          </a:prstGeom>
          <a:noFill/>
        </p:spPr>
        <p:txBody>
          <a:bodyPr wrap="square" rtlCol="0">
            <a:spAutoFit/>
          </a:bodyPr>
          <a:lstStyle/>
          <a:p>
            <a:r>
              <a:rPr lang="en-US" b="1" dirty="0"/>
              <a:t>MRSGI IPO + 20%  = 4.79</a:t>
            </a:r>
          </a:p>
        </p:txBody>
      </p:sp>
      <p:sp>
        <p:nvSpPr>
          <p:cNvPr id="10" name="Oval 9">
            <a:extLst>
              <a:ext uri="{FF2B5EF4-FFF2-40B4-BE49-F238E27FC236}">
                <a16:creationId xmlns="" xmlns:a16="http://schemas.microsoft.com/office/drawing/2014/main" id="{16584B87-D015-439B-97BC-22FC6E7D4048}"/>
              </a:ext>
            </a:extLst>
          </p:cNvPr>
          <p:cNvSpPr/>
          <p:nvPr/>
        </p:nvSpPr>
        <p:spPr>
          <a:xfrm>
            <a:off x="2971800" y="1593056"/>
            <a:ext cx="295275" cy="2476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 xmlns:a16="http://schemas.microsoft.com/office/drawing/2014/main" id="{0DF5FCF0-67F2-4438-9A22-01EAA563F366}"/>
              </a:ext>
            </a:extLst>
          </p:cNvPr>
          <p:cNvSpPr txBox="1"/>
          <p:nvPr/>
        </p:nvSpPr>
        <p:spPr>
          <a:xfrm>
            <a:off x="3267075" y="1532215"/>
            <a:ext cx="4076700" cy="369332"/>
          </a:xfrm>
          <a:prstGeom prst="rect">
            <a:avLst/>
          </a:prstGeom>
          <a:noFill/>
        </p:spPr>
        <p:txBody>
          <a:bodyPr wrap="square" rtlCol="0">
            <a:spAutoFit/>
          </a:bodyPr>
          <a:lstStyle/>
          <a:p>
            <a:r>
              <a:rPr lang="en-US" b="1" dirty="0"/>
              <a:t>MRSGI IPO HIGH = 4.49 = +12.5% GAIN</a:t>
            </a:r>
          </a:p>
        </p:txBody>
      </p:sp>
      <p:cxnSp>
        <p:nvCxnSpPr>
          <p:cNvPr id="13" name="Straight Arrow Connector 12">
            <a:extLst>
              <a:ext uri="{FF2B5EF4-FFF2-40B4-BE49-F238E27FC236}">
                <a16:creationId xmlns="" xmlns:a16="http://schemas.microsoft.com/office/drawing/2014/main" id="{1CA46798-3D75-45A1-ACE8-112634A827CB}"/>
              </a:ext>
            </a:extLst>
          </p:cNvPr>
          <p:cNvCxnSpPr>
            <a:cxnSpLocks/>
          </p:cNvCxnSpPr>
          <p:nvPr/>
        </p:nvCxnSpPr>
        <p:spPr>
          <a:xfrm>
            <a:off x="3267075" y="1840706"/>
            <a:ext cx="2019300" cy="2235994"/>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7186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D73E3-66F9-4B09-B9CC-3DE08E2F37C9}"/>
              </a:ext>
            </a:extLst>
          </p:cNvPr>
          <p:cNvSpPr>
            <a:spLocks noGrp="1"/>
          </p:cNvSpPr>
          <p:nvPr>
            <p:ph type="title"/>
          </p:nvPr>
        </p:nvSpPr>
        <p:spPr/>
        <p:txBody>
          <a:bodyPr/>
          <a:lstStyle/>
          <a:p>
            <a:r>
              <a:rPr lang="en-US" dirty="0"/>
              <a:t>MY BEBEMON TRADE SET-UP</a:t>
            </a:r>
          </a:p>
        </p:txBody>
      </p:sp>
    </p:spTree>
    <p:extLst>
      <p:ext uri="{BB962C8B-B14F-4D97-AF65-F5344CB8AC3E}">
        <p14:creationId xmlns:p14="http://schemas.microsoft.com/office/powerpoint/2010/main" val="763303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MY BEBEMON TRADE SET-UP</a:t>
            </a:r>
          </a:p>
        </p:txBody>
      </p:sp>
      <p:sp>
        <p:nvSpPr>
          <p:cNvPr id="7" name="Rectangle 6">
            <a:extLst>
              <a:ext uri="{FF2B5EF4-FFF2-40B4-BE49-F238E27FC236}">
                <a16:creationId xmlns="" xmlns:a16="http://schemas.microsoft.com/office/drawing/2014/main" id="{5FEBE4A5-AF03-4357-831A-AD4C1B2EE6AE}"/>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err="1">
                <a:solidFill>
                  <a:schemeClr val="tx1"/>
                </a:solidFill>
              </a:rPr>
              <a:t>Bebe</a:t>
            </a:r>
            <a:r>
              <a:rPr lang="en-US" dirty="0">
                <a:solidFill>
                  <a:schemeClr val="tx1"/>
                </a:solidFill>
              </a:rPr>
              <a:t> or </a:t>
            </a:r>
            <a:r>
              <a:rPr lang="en-US" dirty="0" err="1">
                <a:solidFill>
                  <a:schemeClr val="tx1"/>
                </a:solidFill>
              </a:rPr>
              <a:t>bibe</a:t>
            </a:r>
            <a:r>
              <a:rPr lang="en-US" dirty="0">
                <a:solidFill>
                  <a:schemeClr val="tx1"/>
                </a:solidFill>
              </a:rPr>
              <a:t> refers to a price transition around or above the </a:t>
            </a:r>
            <a:r>
              <a:rPr lang="en-US" dirty="0" smtClean="0">
                <a:solidFill>
                  <a:schemeClr val="tx1"/>
                </a:solidFill>
              </a:rPr>
              <a:t>50-period </a:t>
            </a:r>
            <a:r>
              <a:rPr lang="en-US" dirty="0">
                <a:solidFill>
                  <a:schemeClr val="tx1"/>
                </a:solidFill>
              </a:rPr>
              <a:t>moving average that looks like a duckbill</a:t>
            </a:r>
            <a:r>
              <a:rPr lang="en-US" dirty="0" smtClean="0">
                <a:solidFill>
                  <a:schemeClr val="tx1"/>
                </a:solidFill>
              </a:rPr>
              <a:t>. That’s for the “pa-arte” pattern. </a:t>
            </a:r>
            <a:r>
              <a:rPr lang="en-US" dirty="0" err="1" smtClean="0">
                <a:solidFill>
                  <a:schemeClr val="tx1"/>
                </a:solidFill>
              </a:rPr>
              <a:t>Bebemon</a:t>
            </a:r>
            <a:r>
              <a:rPr lang="en-US" dirty="0" smtClean="0">
                <a:solidFill>
                  <a:schemeClr val="tx1"/>
                </a:solidFill>
              </a:rPr>
              <a:t> stands for Bollinger Band Monster.</a:t>
            </a:r>
            <a:endParaRPr lang="en-US" dirty="0">
              <a:solidFill>
                <a:schemeClr val="tx1"/>
              </a:solidFill>
            </a:endParaRPr>
          </a:p>
          <a:p>
            <a:pPr marL="457200" indent="-457200">
              <a:buFont typeface="+mj-lt"/>
              <a:buAutoNum type="arabicPeriod"/>
            </a:pPr>
            <a:r>
              <a:rPr lang="en-US" dirty="0" smtClean="0">
                <a:solidFill>
                  <a:schemeClr val="tx1"/>
                </a:solidFill>
              </a:rPr>
              <a:t>Can </a:t>
            </a:r>
            <a:r>
              <a:rPr lang="en-US" dirty="0">
                <a:solidFill>
                  <a:schemeClr val="tx1"/>
                </a:solidFill>
              </a:rPr>
              <a:t>be traded two ways: a) around the </a:t>
            </a:r>
            <a:r>
              <a:rPr lang="en-US" dirty="0" smtClean="0">
                <a:solidFill>
                  <a:schemeClr val="tx1"/>
                </a:solidFill>
              </a:rPr>
              <a:t>50-prd MA </a:t>
            </a:r>
            <a:r>
              <a:rPr lang="en-US" dirty="0">
                <a:solidFill>
                  <a:schemeClr val="tx1"/>
                </a:solidFill>
              </a:rPr>
              <a:t>or as the bill is being formed, or b) on the pattern breakout. </a:t>
            </a:r>
          </a:p>
          <a:p>
            <a:pPr marL="457200" indent="-457200">
              <a:buFont typeface="+mj-lt"/>
              <a:buAutoNum type="arabicPeriod"/>
            </a:pPr>
            <a:r>
              <a:rPr lang="en-US" dirty="0" smtClean="0">
                <a:solidFill>
                  <a:schemeClr val="tx1"/>
                </a:solidFill>
              </a:rPr>
              <a:t>Stop </a:t>
            </a:r>
            <a:r>
              <a:rPr lang="en-US" dirty="0">
                <a:solidFill>
                  <a:schemeClr val="tx1"/>
                </a:solidFill>
              </a:rPr>
              <a:t>loss placement below the </a:t>
            </a:r>
            <a:r>
              <a:rPr lang="en-US" dirty="0" smtClean="0">
                <a:solidFill>
                  <a:schemeClr val="tx1"/>
                </a:solidFill>
              </a:rPr>
              <a:t>50-prd MA </a:t>
            </a:r>
            <a:r>
              <a:rPr lang="en-US" dirty="0">
                <a:solidFill>
                  <a:schemeClr val="tx1"/>
                </a:solidFill>
              </a:rPr>
              <a:t>or inside the pattern for breakout traders.</a:t>
            </a:r>
          </a:p>
          <a:p>
            <a:pPr marL="457200" indent="-457200">
              <a:buFont typeface="+mj-lt"/>
              <a:buAutoNum type="arabicPeriod"/>
            </a:pPr>
            <a:endParaRPr lang="en-US" dirty="0">
              <a:solidFill>
                <a:schemeClr val="tx1"/>
              </a:solidFill>
            </a:endParaRPr>
          </a:p>
          <a:p>
            <a:pPr marL="457200" indent="-457200">
              <a:buFont typeface="+mj-lt"/>
              <a:buAutoNum type="arabicPeriod"/>
            </a:pPr>
            <a:endParaRPr lang="en-US" dirty="0">
              <a:solidFill>
                <a:schemeClr val="tx1"/>
              </a:solidFill>
            </a:endParaRPr>
          </a:p>
        </p:txBody>
      </p:sp>
      <p:pic>
        <p:nvPicPr>
          <p:cNvPr id="2" name="Picture 1">
            <a:extLst>
              <a:ext uri="{FF2B5EF4-FFF2-40B4-BE49-F238E27FC236}">
                <a16:creationId xmlns="" xmlns:a16="http://schemas.microsoft.com/office/drawing/2014/main" id="{482D4F43-D828-4612-81C8-580180D599D7}"/>
              </a:ext>
            </a:extLst>
          </p:cNvPr>
          <p:cNvPicPr>
            <a:picLocks noChangeAspect="1"/>
          </p:cNvPicPr>
          <p:nvPr/>
        </p:nvPicPr>
        <p:blipFill rotWithShape="1">
          <a:blip r:embed="rId2"/>
          <a:srcRect l="51715" t="51991" r="38158" b="37332"/>
          <a:stretch/>
        </p:blipFill>
        <p:spPr>
          <a:xfrm>
            <a:off x="510941" y="901606"/>
            <a:ext cx="3098800" cy="2647950"/>
          </a:xfrm>
          <a:prstGeom prst="rect">
            <a:avLst/>
          </a:prstGeom>
        </p:spPr>
      </p:pic>
      <p:pic>
        <p:nvPicPr>
          <p:cNvPr id="12" name="Picture 11">
            <a:extLst>
              <a:ext uri="{FF2B5EF4-FFF2-40B4-BE49-F238E27FC236}">
                <a16:creationId xmlns="" xmlns:a16="http://schemas.microsoft.com/office/drawing/2014/main" id="{02C3553E-4D76-43A3-8DC7-3C10A77C0A7B}"/>
              </a:ext>
            </a:extLst>
          </p:cNvPr>
          <p:cNvPicPr>
            <a:picLocks noChangeAspect="1"/>
          </p:cNvPicPr>
          <p:nvPr/>
        </p:nvPicPr>
        <p:blipFill rotWithShape="1">
          <a:blip r:embed="rId2"/>
          <a:srcRect l="68108" t="52770" r="20188" b="38183"/>
          <a:stretch/>
        </p:blipFill>
        <p:spPr>
          <a:xfrm>
            <a:off x="4771790" y="766621"/>
            <a:ext cx="4657961" cy="2917920"/>
          </a:xfrm>
          <a:prstGeom prst="rect">
            <a:avLst/>
          </a:prstGeom>
        </p:spPr>
      </p:pic>
      <p:pic>
        <p:nvPicPr>
          <p:cNvPr id="14" name="Picture 13">
            <a:extLst>
              <a:ext uri="{FF2B5EF4-FFF2-40B4-BE49-F238E27FC236}">
                <a16:creationId xmlns="" xmlns:a16="http://schemas.microsoft.com/office/drawing/2014/main" id="{670A8AB3-F87D-4B30-A1C6-8274202021DD}"/>
              </a:ext>
            </a:extLst>
          </p:cNvPr>
          <p:cNvPicPr>
            <a:picLocks noChangeAspect="1"/>
          </p:cNvPicPr>
          <p:nvPr/>
        </p:nvPicPr>
        <p:blipFill rotWithShape="1">
          <a:blip r:embed="rId2"/>
          <a:srcRect l="52367" t="69038" r="30883" b="14777"/>
          <a:stretch/>
        </p:blipFill>
        <p:spPr>
          <a:xfrm>
            <a:off x="410810" y="3549556"/>
            <a:ext cx="3905252" cy="3058330"/>
          </a:xfrm>
          <a:prstGeom prst="rect">
            <a:avLst/>
          </a:prstGeom>
        </p:spPr>
      </p:pic>
      <p:pic>
        <p:nvPicPr>
          <p:cNvPr id="15" name="Picture 14">
            <a:extLst>
              <a:ext uri="{FF2B5EF4-FFF2-40B4-BE49-F238E27FC236}">
                <a16:creationId xmlns="" xmlns:a16="http://schemas.microsoft.com/office/drawing/2014/main" id="{89F2F966-7EEA-4267-B305-2E208508826B}"/>
              </a:ext>
            </a:extLst>
          </p:cNvPr>
          <p:cNvPicPr>
            <a:picLocks noChangeAspect="1"/>
          </p:cNvPicPr>
          <p:nvPr/>
        </p:nvPicPr>
        <p:blipFill rotWithShape="1">
          <a:blip r:embed="rId2"/>
          <a:srcRect l="72895" t="68756" r="15401" b="22197"/>
          <a:stretch/>
        </p:blipFill>
        <p:spPr>
          <a:xfrm>
            <a:off x="4543926" y="3689966"/>
            <a:ext cx="4657961" cy="2917920"/>
          </a:xfrm>
          <a:prstGeom prst="rect">
            <a:avLst/>
          </a:prstGeom>
        </p:spPr>
      </p:pic>
    </p:spTree>
    <p:extLst>
      <p:ext uri="{BB962C8B-B14F-4D97-AF65-F5344CB8AC3E}">
        <p14:creationId xmlns:p14="http://schemas.microsoft.com/office/powerpoint/2010/main" val="1564864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BHI</a:t>
            </a:r>
          </a:p>
        </p:txBody>
      </p:sp>
      <p:pic>
        <p:nvPicPr>
          <p:cNvPr id="4" name="Content Placeholder 3">
            <a:extLst>
              <a:ext uri="{FF2B5EF4-FFF2-40B4-BE49-F238E27FC236}">
                <a16:creationId xmlns="" xmlns:a16="http://schemas.microsoft.com/office/drawing/2014/main" id="{387283BF-E522-4664-8B44-FA6ACF031768}"/>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507" t="10325" r="50897" b="50793"/>
          <a:stretch/>
        </p:blipFill>
        <p:spPr>
          <a:xfrm>
            <a:off x="0" y="681036"/>
            <a:ext cx="12192000" cy="6176963"/>
          </a:xfrm>
        </p:spPr>
      </p:pic>
    </p:spTree>
    <p:extLst>
      <p:ext uri="{BB962C8B-B14F-4D97-AF65-F5344CB8AC3E}">
        <p14:creationId xmlns:p14="http://schemas.microsoft.com/office/powerpoint/2010/main" val="1201859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PXP</a:t>
            </a:r>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1012" t="10627" b="51330"/>
          <a:stretch/>
        </p:blipFill>
        <p:spPr>
          <a:xfrm>
            <a:off x="-1" y="681036"/>
            <a:ext cx="12191999" cy="6196525"/>
          </a:xfrm>
          <a:prstGeom prst="rect">
            <a:avLst/>
          </a:prstGeom>
        </p:spPr>
      </p:pic>
    </p:spTree>
    <p:extLst>
      <p:ext uri="{BB962C8B-B14F-4D97-AF65-F5344CB8AC3E}">
        <p14:creationId xmlns:p14="http://schemas.microsoft.com/office/powerpoint/2010/main" val="1578885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BCOR</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3497201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BCOR</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2060867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EUR/USD</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2366157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EUR/USD</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1290302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WTI</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6917755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smtClean="0"/>
              <a:t>WTI</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036"/>
            <a:ext cx="12192000" cy="6196525"/>
          </a:xfrm>
          <a:prstGeom prst="rect">
            <a:avLst/>
          </a:prstGeom>
        </p:spPr>
      </p:pic>
    </p:spTree>
    <p:extLst>
      <p:ext uri="{BB962C8B-B14F-4D97-AF65-F5344CB8AC3E}">
        <p14:creationId xmlns:p14="http://schemas.microsoft.com/office/powerpoint/2010/main" val="1938059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MY BEBEMON TRADE SET-UP</a:t>
            </a:r>
          </a:p>
        </p:txBody>
      </p:sp>
      <p:sp>
        <p:nvSpPr>
          <p:cNvPr id="7" name="Rectangle 6">
            <a:extLst>
              <a:ext uri="{FF2B5EF4-FFF2-40B4-BE49-F238E27FC236}">
                <a16:creationId xmlns="" xmlns:a16="http://schemas.microsoft.com/office/drawing/2014/main" id="{5FEBE4A5-AF03-4357-831A-AD4C1B2EE6AE}"/>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err="1" smtClean="0">
                <a:solidFill>
                  <a:schemeClr val="tx1"/>
                </a:solidFill>
              </a:rPr>
              <a:t>Bebemon</a:t>
            </a:r>
            <a:r>
              <a:rPr lang="en-US" dirty="0" smtClean="0">
                <a:solidFill>
                  <a:schemeClr val="tx1"/>
                </a:solidFill>
              </a:rPr>
              <a:t> or Bollinger Band Monster can be a one shop trade set up. That is, it can be </a:t>
            </a:r>
          </a:p>
          <a:p>
            <a:r>
              <a:rPr lang="en-US" dirty="0">
                <a:solidFill>
                  <a:schemeClr val="tx1"/>
                </a:solidFill>
              </a:rPr>
              <a:t> </a:t>
            </a:r>
            <a:r>
              <a:rPr lang="en-US" dirty="0" smtClean="0">
                <a:solidFill>
                  <a:schemeClr val="tx1"/>
                </a:solidFill>
              </a:rPr>
              <a:t>       a) Bottom Play </a:t>
            </a:r>
          </a:p>
          <a:p>
            <a:r>
              <a:rPr lang="en-US" dirty="0" smtClean="0">
                <a:solidFill>
                  <a:schemeClr val="tx1"/>
                </a:solidFill>
              </a:rPr>
              <a:t>        b) Reversal</a:t>
            </a:r>
          </a:p>
          <a:p>
            <a:r>
              <a:rPr lang="en-US" dirty="0">
                <a:solidFill>
                  <a:schemeClr val="tx1"/>
                </a:solidFill>
              </a:rPr>
              <a:t> </a:t>
            </a:r>
            <a:r>
              <a:rPr lang="en-US" dirty="0" smtClean="0">
                <a:solidFill>
                  <a:schemeClr val="tx1"/>
                </a:solidFill>
              </a:rPr>
              <a:t>       c) Trend following</a:t>
            </a:r>
          </a:p>
          <a:p>
            <a:r>
              <a:rPr lang="en-US" dirty="0">
                <a:solidFill>
                  <a:schemeClr val="tx1"/>
                </a:solidFill>
              </a:rPr>
              <a:t> </a:t>
            </a:r>
            <a:r>
              <a:rPr lang="en-US" dirty="0" smtClean="0">
                <a:solidFill>
                  <a:schemeClr val="tx1"/>
                </a:solidFill>
              </a:rPr>
              <a:t>       d) </a:t>
            </a:r>
            <a:r>
              <a:rPr lang="en-US" dirty="0" err="1" smtClean="0">
                <a:solidFill>
                  <a:schemeClr val="tx1"/>
                </a:solidFill>
              </a:rPr>
              <a:t>Momo</a:t>
            </a:r>
            <a:r>
              <a:rPr lang="en-US" dirty="0" smtClean="0">
                <a:solidFill>
                  <a:schemeClr val="tx1"/>
                </a:solidFill>
              </a:rPr>
              <a:t> play</a:t>
            </a:r>
          </a:p>
          <a:p>
            <a:r>
              <a:rPr lang="en-US" dirty="0">
                <a:solidFill>
                  <a:schemeClr val="tx1"/>
                </a:solidFill>
              </a:rPr>
              <a:t> </a:t>
            </a:r>
            <a:r>
              <a:rPr lang="en-US" dirty="0" smtClean="0">
                <a:solidFill>
                  <a:schemeClr val="tx1"/>
                </a:solidFill>
              </a:rPr>
              <a:t>       e) Pattern formation</a:t>
            </a:r>
          </a:p>
          <a:p>
            <a:r>
              <a:rPr lang="en-US" dirty="0">
                <a:solidFill>
                  <a:schemeClr val="tx1"/>
                </a:solidFill>
              </a:rPr>
              <a:t> </a:t>
            </a:r>
            <a:r>
              <a:rPr lang="en-US" dirty="0" smtClean="0">
                <a:solidFill>
                  <a:schemeClr val="tx1"/>
                </a:solidFill>
              </a:rPr>
              <a:t>        f) Breakouts</a:t>
            </a:r>
          </a:p>
          <a:p>
            <a:r>
              <a:rPr lang="en-US" dirty="0">
                <a:solidFill>
                  <a:schemeClr val="tx1"/>
                </a:solidFill>
              </a:rPr>
              <a:t> </a:t>
            </a:r>
            <a:r>
              <a:rPr lang="en-US" dirty="0" smtClean="0">
                <a:solidFill>
                  <a:schemeClr val="tx1"/>
                </a:solidFill>
              </a:rPr>
              <a:t>        g) </a:t>
            </a:r>
            <a:r>
              <a:rPr lang="en-US" dirty="0" err="1" smtClean="0">
                <a:solidFill>
                  <a:schemeClr val="tx1"/>
                </a:solidFill>
              </a:rPr>
              <a:t>Parabolics</a:t>
            </a:r>
            <a:endParaRPr lang="en-US" dirty="0">
              <a:solidFill>
                <a:schemeClr val="tx1"/>
              </a:solidFill>
            </a:endParaRPr>
          </a:p>
          <a:p>
            <a:pPr marL="457200" indent="-457200">
              <a:buFont typeface="+mj-lt"/>
              <a:buAutoNum type="arabicPeriod"/>
            </a:pPr>
            <a:endParaRPr lang="en-US" dirty="0">
              <a:solidFill>
                <a:schemeClr val="tx1"/>
              </a:solidFill>
            </a:endParaRPr>
          </a:p>
          <a:p>
            <a:pPr marL="457200" indent="-457200">
              <a:buFont typeface="+mj-lt"/>
              <a:buAutoNum type="arabicPeriod"/>
            </a:pPr>
            <a:endParaRPr lang="en-US" dirty="0">
              <a:solidFill>
                <a:schemeClr val="tx1"/>
              </a:solidFill>
            </a:endParaRPr>
          </a:p>
        </p:txBody>
      </p:sp>
      <p:pic>
        <p:nvPicPr>
          <p:cNvPr id="15" name="Picture 14">
            <a:extLst>
              <a:ext uri="{FF2B5EF4-FFF2-40B4-BE49-F238E27FC236}">
                <a16:creationId xmlns="" xmlns:a16="http://schemas.microsoft.com/office/drawing/2014/main" id="{89F2F966-7EEA-4267-B305-2E2085088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931" y="721908"/>
            <a:ext cx="8571432" cy="5885978"/>
          </a:xfrm>
          <a:prstGeom prst="rect">
            <a:avLst/>
          </a:prstGeom>
        </p:spPr>
      </p:pic>
    </p:spTree>
    <p:extLst>
      <p:ext uri="{BB962C8B-B14F-4D97-AF65-F5344CB8AC3E}">
        <p14:creationId xmlns:p14="http://schemas.microsoft.com/office/powerpoint/2010/main" val="23658609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MY BEBEMON TRADE SET-UP</a:t>
            </a:r>
          </a:p>
        </p:txBody>
      </p:sp>
      <p:sp>
        <p:nvSpPr>
          <p:cNvPr id="7" name="Rectangle 6">
            <a:extLst>
              <a:ext uri="{FF2B5EF4-FFF2-40B4-BE49-F238E27FC236}">
                <a16:creationId xmlns="" xmlns:a16="http://schemas.microsoft.com/office/drawing/2014/main" id="{5FEBE4A5-AF03-4357-831A-AD4C1B2EE6AE}"/>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err="1" smtClean="0">
                <a:solidFill>
                  <a:schemeClr val="tx1"/>
                </a:solidFill>
              </a:rPr>
              <a:t>Bebemon</a:t>
            </a:r>
            <a:r>
              <a:rPr lang="en-US" dirty="0" smtClean="0">
                <a:solidFill>
                  <a:schemeClr val="tx1"/>
                </a:solidFill>
              </a:rPr>
              <a:t> or Bollinger Band Monster can be a one shop trade set up. That is, it can be </a:t>
            </a:r>
          </a:p>
          <a:p>
            <a:r>
              <a:rPr lang="en-US" dirty="0">
                <a:solidFill>
                  <a:schemeClr val="tx1"/>
                </a:solidFill>
              </a:rPr>
              <a:t> </a:t>
            </a:r>
            <a:r>
              <a:rPr lang="en-US" dirty="0" smtClean="0">
                <a:solidFill>
                  <a:schemeClr val="tx1"/>
                </a:solidFill>
              </a:rPr>
              <a:t>       a) Bottom Play </a:t>
            </a:r>
          </a:p>
          <a:p>
            <a:r>
              <a:rPr lang="en-US" dirty="0" smtClean="0">
                <a:solidFill>
                  <a:schemeClr val="tx1"/>
                </a:solidFill>
              </a:rPr>
              <a:t>        b) Reversal</a:t>
            </a:r>
          </a:p>
          <a:p>
            <a:r>
              <a:rPr lang="en-US" dirty="0">
                <a:solidFill>
                  <a:schemeClr val="tx1"/>
                </a:solidFill>
              </a:rPr>
              <a:t> </a:t>
            </a:r>
            <a:r>
              <a:rPr lang="en-US" dirty="0" smtClean="0">
                <a:solidFill>
                  <a:schemeClr val="tx1"/>
                </a:solidFill>
              </a:rPr>
              <a:t>       c) Trend following</a:t>
            </a:r>
          </a:p>
          <a:p>
            <a:r>
              <a:rPr lang="en-US" dirty="0">
                <a:solidFill>
                  <a:schemeClr val="tx1"/>
                </a:solidFill>
              </a:rPr>
              <a:t> </a:t>
            </a:r>
            <a:r>
              <a:rPr lang="en-US" dirty="0" smtClean="0">
                <a:solidFill>
                  <a:schemeClr val="tx1"/>
                </a:solidFill>
              </a:rPr>
              <a:t>       d) </a:t>
            </a:r>
            <a:r>
              <a:rPr lang="en-US" dirty="0" err="1" smtClean="0">
                <a:solidFill>
                  <a:schemeClr val="tx1"/>
                </a:solidFill>
              </a:rPr>
              <a:t>Momo</a:t>
            </a:r>
            <a:r>
              <a:rPr lang="en-US" dirty="0" smtClean="0">
                <a:solidFill>
                  <a:schemeClr val="tx1"/>
                </a:solidFill>
              </a:rPr>
              <a:t> play</a:t>
            </a:r>
          </a:p>
          <a:p>
            <a:r>
              <a:rPr lang="en-US" dirty="0">
                <a:solidFill>
                  <a:schemeClr val="tx1"/>
                </a:solidFill>
              </a:rPr>
              <a:t> </a:t>
            </a:r>
            <a:r>
              <a:rPr lang="en-US" dirty="0" smtClean="0">
                <a:solidFill>
                  <a:schemeClr val="tx1"/>
                </a:solidFill>
              </a:rPr>
              <a:t>       e) Pattern formation</a:t>
            </a:r>
          </a:p>
          <a:p>
            <a:r>
              <a:rPr lang="en-US" dirty="0">
                <a:solidFill>
                  <a:schemeClr val="tx1"/>
                </a:solidFill>
              </a:rPr>
              <a:t> </a:t>
            </a:r>
            <a:r>
              <a:rPr lang="en-US" dirty="0" smtClean="0">
                <a:solidFill>
                  <a:schemeClr val="tx1"/>
                </a:solidFill>
              </a:rPr>
              <a:t>        f) Breakouts</a:t>
            </a:r>
          </a:p>
          <a:p>
            <a:r>
              <a:rPr lang="en-US" dirty="0">
                <a:solidFill>
                  <a:schemeClr val="tx1"/>
                </a:solidFill>
              </a:rPr>
              <a:t> </a:t>
            </a:r>
            <a:r>
              <a:rPr lang="en-US" dirty="0" smtClean="0">
                <a:solidFill>
                  <a:schemeClr val="tx1"/>
                </a:solidFill>
              </a:rPr>
              <a:t>        g) </a:t>
            </a:r>
            <a:r>
              <a:rPr lang="en-US" dirty="0" err="1" smtClean="0">
                <a:solidFill>
                  <a:schemeClr val="tx1"/>
                </a:solidFill>
              </a:rPr>
              <a:t>Parabolics</a:t>
            </a:r>
            <a:endParaRPr lang="en-US" dirty="0">
              <a:solidFill>
                <a:schemeClr val="tx1"/>
              </a:solidFill>
            </a:endParaRPr>
          </a:p>
          <a:p>
            <a:pPr marL="457200" indent="-457200">
              <a:buFont typeface="+mj-lt"/>
              <a:buAutoNum type="arabicPeriod"/>
            </a:pPr>
            <a:endParaRPr lang="en-US" dirty="0">
              <a:solidFill>
                <a:schemeClr val="tx1"/>
              </a:solidFill>
            </a:endParaRPr>
          </a:p>
          <a:p>
            <a:pPr marL="457200" indent="-457200">
              <a:buFont typeface="+mj-lt"/>
              <a:buAutoNum type="arabicPeriod"/>
            </a:pPr>
            <a:endParaRPr lang="en-US" dirty="0">
              <a:solidFill>
                <a:schemeClr val="tx1"/>
              </a:solidFill>
            </a:endParaRPr>
          </a:p>
        </p:txBody>
      </p:sp>
      <p:pic>
        <p:nvPicPr>
          <p:cNvPr id="15" name="Picture 14">
            <a:extLst>
              <a:ext uri="{FF2B5EF4-FFF2-40B4-BE49-F238E27FC236}">
                <a16:creationId xmlns="" xmlns:a16="http://schemas.microsoft.com/office/drawing/2014/main" id="{89F2F966-7EEA-4267-B305-2E2085088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571" y="721908"/>
            <a:ext cx="8434699" cy="5885978"/>
          </a:xfrm>
          <a:prstGeom prst="rect">
            <a:avLst/>
          </a:prstGeom>
        </p:spPr>
      </p:pic>
    </p:spTree>
    <p:extLst>
      <p:ext uri="{BB962C8B-B14F-4D97-AF65-F5344CB8AC3E}">
        <p14:creationId xmlns:p14="http://schemas.microsoft.com/office/powerpoint/2010/main" val="40896204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a:t>MY BEBEMON TRADE SET-UP</a:t>
            </a:r>
          </a:p>
        </p:txBody>
      </p:sp>
      <p:sp>
        <p:nvSpPr>
          <p:cNvPr id="7" name="Rectangle 6">
            <a:extLst>
              <a:ext uri="{FF2B5EF4-FFF2-40B4-BE49-F238E27FC236}">
                <a16:creationId xmlns="" xmlns:a16="http://schemas.microsoft.com/office/drawing/2014/main" id="{5FEBE4A5-AF03-4357-831A-AD4C1B2EE6AE}"/>
              </a:ext>
            </a:extLst>
          </p:cNvPr>
          <p:cNvSpPr/>
          <p:nvPr/>
        </p:nvSpPr>
        <p:spPr>
          <a:xfrm>
            <a:off x="9429751" y="681036"/>
            <a:ext cx="2762249" cy="61769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rPr>
              <a:t>NOTES:</a:t>
            </a:r>
          </a:p>
          <a:p>
            <a:pPr marL="457200" indent="-457200">
              <a:buFont typeface="+mj-lt"/>
              <a:buAutoNum type="arabicPeriod"/>
            </a:pPr>
            <a:r>
              <a:rPr lang="en-US" dirty="0" err="1" smtClean="0">
                <a:solidFill>
                  <a:schemeClr val="tx1"/>
                </a:solidFill>
              </a:rPr>
              <a:t>Bebemon</a:t>
            </a:r>
            <a:r>
              <a:rPr lang="en-US" dirty="0" smtClean="0">
                <a:solidFill>
                  <a:schemeClr val="tx1"/>
                </a:solidFill>
              </a:rPr>
              <a:t> or Bollinger Band Monster can be a one shop trade set up. That is, it can be </a:t>
            </a:r>
          </a:p>
          <a:p>
            <a:r>
              <a:rPr lang="en-US" dirty="0">
                <a:solidFill>
                  <a:schemeClr val="tx1"/>
                </a:solidFill>
              </a:rPr>
              <a:t> </a:t>
            </a:r>
            <a:r>
              <a:rPr lang="en-US" dirty="0" smtClean="0">
                <a:solidFill>
                  <a:schemeClr val="tx1"/>
                </a:solidFill>
              </a:rPr>
              <a:t>       a) Bottom Play </a:t>
            </a:r>
          </a:p>
          <a:p>
            <a:r>
              <a:rPr lang="en-US" dirty="0" smtClean="0">
                <a:solidFill>
                  <a:schemeClr val="tx1"/>
                </a:solidFill>
              </a:rPr>
              <a:t>        b) Reversal</a:t>
            </a:r>
          </a:p>
          <a:p>
            <a:r>
              <a:rPr lang="en-US" dirty="0">
                <a:solidFill>
                  <a:schemeClr val="tx1"/>
                </a:solidFill>
              </a:rPr>
              <a:t> </a:t>
            </a:r>
            <a:r>
              <a:rPr lang="en-US" dirty="0" smtClean="0">
                <a:solidFill>
                  <a:schemeClr val="tx1"/>
                </a:solidFill>
              </a:rPr>
              <a:t>       c) Trend following</a:t>
            </a:r>
          </a:p>
          <a:p>
            <a:r>
              <a:rPr lang="en-US" dirty="0">
                <a:solidFill>
                  <a:schemeClr val="tx1"/>
                </a:solidFill>
              </a:rPr>
              <a:t> </a:t>
            </a:r>
            <a:r>
              <a:rPr lang="en-US" dirty="0" smtClean="0">
                <a:solidFill>
                  <a:schemeClr val="tx1"/>
                </a:solidFill>
              </a:rPr>
              <a:t>       d) </a:t>
            </a:r>
            <a:r>
              <a:rPr lang="en-US" dirty="0" err="1" smtClean="0">
                <a:solidFill>
                  <a:schemeClr val="tx1"/>
                </a:solidFill>
              </a:rPr>
              <a:t>Momo</a:t>
            </a:r>
            <a:r>
              <a:rPr lang="en-US" dirty="0" smtClean="0">
                <a:solidFill>
                  <a:schemeClr val="tx1"/>
                </a:solidFill>
              </a:rPr>
              <a:t> play</a:t>
            </a:r>
          </a:p>
          <a:p>
            <a:r>
              <a:rPr lang="en-US" dirty="0">
                <a:solidFill>
                  <a:schemeClr val="tx1"/>
                </a:solidFill>
              </a:rPr>
              <a:t> </a:t>
            </a:r>
            <a:r>
              <a:rPr lang="en-US" dirty="0" smtClean="0">
                <a:solidFill>
                  <a:schemeClr val="tx1"/>
                </a:solidFill>
              </a:rPr>
              <a:t>       e) Pattern formation</a:t>
            </a:r>
          </a:p>
          <a:p>
            <a:r>
              <a:rPr lang="en-US" dirty="0">
                <a:solidFill>
                  <a:schemeClr val="tx1"/>
                </a:solidFill>
              </a:rPr>
              <a:t> </a:t>
            </a:r>
            <a:r>
              <a:rPr lang="en-US" dirty="0" smtClean="0">
                <a:solidFill>
                  <a:schemeClr val="tx1"/>
                </a:solidFill>
              </a:rPr>
              <a:t>        f) Breakouts</a:t>
            </a:r>
          </a:p>
          <a:p>
            <a:r>
              <a:rPr lang="en-US" dirty="0">
                <a:solidFill>
                  <a:schemeClr val="tx1"/>
                </a:solidFill>
              </a:rPr>
              <a:t> </a:t>
            </a:r>
            <a:r>
              <a:rPr lang="en-US" dirty="0" smtClean="0">
                <a:solidFill>
                  <a:schemeClr val="tx1"/>
                </a:solidFill>
              </a:rPr>
              <a:t>        g) </a:t>
            </a:r>
            <a:r>
              <a:rPr lang="en-US" dirty="0" err="1" smtClean="0">
                <a:solidFill>
                  <a:schemeClr val="tx1"/>
                </a:solidFill>
              </a:rPr>
              <a:t>Parabolics</a:t>
            </a:r>
            <a:endParaRPr lang="en-US" dirty="0">
              <a:solidFill>
                <a:schemeClr val="tx1"/>
              </a:solidFill>
            </a:endParaRPr>
          </a:p>
          <a:p>
            <a:pPr marL="457200" indent="-457200">
              <a:buFont typeface="+mj-lt"/>
              <a:buAutoNum type="arabicPeriod"/>
            </a:pPr>
            <a:endParaRPr lang="en-US" dirty="0">
              <a:solidFill>
                <a:schemeClr val="tx1"/>
              </a:solidFill>
            </a:endParaRPr>
          </a:p>
          <a:p>
            <a:pPr marL="457200" indent="-457200">
              <a:buFont typeface="+mj-lt"/>
              <a:buAutoNum type="arabicPeriod"/>
            </a:pPr>
            <a:endParaRPr lang="en-US" dirty="0">
              <a:solidFill>
                <a:schemeClr val="tx1"/>
              </a:solidFill>
            </a:endParaRPr>
          </a:p>
        </p:txBody>
      </p:sp>
      <p:pic>
        <p:nvPicPr>
          <p:cNvPr id="15" name="Picture 14">
            <a:extLst>
              <a:ext uri="{FF2B5EF4-FFF2-40B4-BE49-F238E27FC236}">
                <a16:creationId xmlns="" xmlns:a16="http://schemas.microsoft.com/office/drawing/2014/main" id="{89F2F966-7EEA-4267-B305-2E2085088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389" y="721907"/>
            <a:ext cx="8562886" cy="5969449"/>
          </a:xfrm>
          <a:prstGeom prst="rect">
            <a:avLst/>
          </a:prstGeom>
        </p:spPr>
      </p:pic>
    </p:spTree>
    <p:extLst>
      <p:ext uri="{BB962C8B-B14F-4D97-AF65-F5344CB8AC3E}">
        <p14:creationId xmlns:p14="http://schemas.microsoft.com/office/powerpoint/2010/main" val="1234588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err="1" smtClean="0"/>
              <a:t>Bebemon</a:t>
            </a:r>
            <a:r>
              <a:rPr lang="en-US" sz="4000" dirty="0" smtClean="0"/>
              <a:t> Watch - ABS</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026" y="681036"/>
            <a:ext cx="10143858" cy="6001775"/>
          </a:xfrm>
          <a:prstGeom prst="rect">
            <a:avLst/>
          </a:prstGeom>
        </p:spPr>
      </p:pic>
    </p:spTree>
    <p:extLst>
      <p:ext uri="{BB962C8B-B14F-4D97-AF65-F5344CB8AC3E}">
        <p14:creationId xmlns:p14="http://schemas.microsoft.com/office/powerpoint/2010/main" val="14739962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err="1" smtClean="0"/>
              <a:t>Bebemon</a:t>
            </a:r>
            <a:r>
              <a:rPr lang="en-US" sz="4000" dirty="0" smtClean="0"/>
              <a:t> Watch – X Daily</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213" y="681036"/>
            <a:ext cx="9716568" cy="6001775"/>
          </a:xfrm>
          <a:prstGeom prst="rect">
            <a:avLst/>
          </a:prstGeom>
        </p:spPr>
      </p:pic>
    </p:spTree>
    <p:extLst>
      <p:ext uri="{BB962C8B-B14F-4D97-AF65-F5344CB8AC3E}">
        <p14:creationId xmlns:p14="http://schemas.microsoft.com/office/powerpoint/2010/main" val="1949035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err="1" smtClean="0"/>
              <a:t>Bebemon</a:t>
            </a:r>
            <a:r>
              <a:rPr lang="en-US" sz="4000" dirty="0" smtClean="0"/>
              <a:t> Watch – X Weekly</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035" y="681036"/>
            <a:ext cx="10075490" cy="6001775"/>
          </a:xfrm>
          <a:prstGeom prst="rect">
            <a:avLst/>
          </a:prstGeom>
        </p:spPr>
      </p:pic>
    </p:spTree>
    <p:extLst>
      <p:ext uri="{BB962C8B-B14F-4D97-AF65-F5344CB8AC3E}">
        <p14:creationId xmlns:p14="http://schemas.microsoft.com/office/powerpoint/2010/main" val="1530101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err="1" smtClean="0"/>
              <a:t>Bebemon</a:t>
            </a:r>
            <a:r>
              <a:rPr lang="en-US" sz="4000" dirty="0" smtClean="0"/>
              <a:t> Watch - HLCM</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575" y="681036"/>
            <a:ext cx="9998579" cy="6001775"/>
          </a:xfrm>
          <a:prstGeom prst="rect">
            <a:avLst/>
          </a:prstGeom>
        </p:spPr>
      </p:pic>
    </p:spTree>
    <p:extLst>
      <p:ext uri="{BB962C8B-B14F-4D97-AF65-F5344CB8AC3E}">
        <p14:creationId xmlns:p14="http://schemas.microsoft.com/office/powerpoint/2010/main" val="3727959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E8CB5634-E768-47E4-889D-9E7E0C4AA0F6}"/>
              </a:ext>
            </a:extLst>
          </p:cNvPr>
          <p:cNvSpPr/>
          <p:nvPr/>
        </p:nvSpPr>
        <p:spPr>
          <a:xfrm>
            <a:off x="0" y="0"/>
            <a:ext cx="12192000" cy="681037"/>
          </a:xfrm>
          <a:prstGeom prst="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4000" dirty="0" err="1" smtClean="0"/>
              <a:t>Bebemon</a:t>
            </a:r>
            <a:r>
              <a:rPr lang="en-US" sz="4000" dirty="0" smtClean="0"/>
              <a:t> Watch – CHP (NOT ALL HAVE BEEN PROFITABLE)</a:t>
            </a:r>
            <a:endParaRPr lang="en-US" sz="4000" dirty="0"/>
          </a:p>
        </p:txBody>
      </p:sp>
      <p:pic>
        <p:nvPicPr>
          <p:cNvPr id="7" name="Content Placeholder 3">
            <a:extLst>
              <a:ext uri="{FF2B5EF4-FFF2-40B4-BE49-F238E27FC236}">
                <a16:creationId xmlns="" xmlns:a16="http://schemas.microsoft.com/office/drawing/2014/main" id="{6AFF6D95-7B6B-4C91-8F6F-6EF67EC57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850" y="681036"/>
            <a:ext cx="9990034" cy="6001775"/>
          </a:xfrm>
          <a:prstGeom prst="rect">
            <a:avLst/>
          </a:prstGeom>
        </p:spPr>
      </p:pic>
    </p:spTree>
    <p:extLst>
      <p:ext uri="{BB962C8B-B14F-4D97-AF65-F5344CB8AC3E}">
        <p14:creationId xmlns:p14="http://schemas.microsoft.com/office/powerpoint/2010/main" val="3198651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D73E3-66F9-4B09-B9CC-3DE08E2F37C9}"/>
              </a:ext>
            </a:extLst>
          </p:cNvPr>
          <p:cNvSpPr>
            <a:spLocks noGrp="1"/>
          </p:cNvSpPr>
          <p:nvPr>
            <p:ph type="title"/>
          </p:nvPr>
        </p:nvSpPr>
        <p:spPr/>
        <p:txBody>
          <a:bodyPr>
            <a:normAutofit/>
          </a:bodyPr>
          <a:lstStyle/>
          <a:p>
            <a:r>
              <a:rPr lang="en-US" sz="8000" dirty="0"/>
              <a:t>THE HOLY GRAIL</a:t>
            </a:r>
          </a:p>
        </p:txBody>
      </p:sp>
    </p:spTree>
    <p:extLst>
      <p:ext uri="{BB962C8B-B14F-4D97-AF65-F5344CB8AC3E}">
        <p14:creationId xmlns:p14="http://schemas.microsoft.com/office/powerpoint/2010/main" val="484574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B9FF99BD-075F-4761-A995-6FC574BD25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A7B21A54-9BA3-4EA9-B460-5A829ADD905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6FA8F714-B9D8-488A-8CCA-E9948FF913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 up of a logo&#10;&#10;Description automatically generated">
            <a:extLst>
              <a:ext uri="{FF2B5EF4-FFF2-40B4-BE49-F238E27FC236}">
                <a16:creationId xmlns="" xmlns:a16="http://schemas.microsoft.com/office/drawing/2014/main" id="{C76EB152-1E2F-409F-AD83-15667444D624}"/>
              </a:ext>
            </a:extLst>
          </p:cNvPr>
          <p:cNvPicPr>
            <a:picLocks noChangeAspect="1"/>
          </p:cNvPicPr>
          <p:nvPr/>
        </p:nvPicPr>
        <p:blipFill>
          <a:blip r:embed="rId2"/>
          <a:stretch>
            <a:fillRect/>
          </a:stretch>
        </p:blipFill>
        <p:spPr>
          <a:xfrm>
            <a:off x="1120477" y="1622301"/>
            <a:ext cx="9951041" cy="3607252"/>
          </a:xfrm>
          <a:prstGeom prst="rect">
            <a:avLst/>
          </a:prstGeom>
        </p:spPr>
      </p:pic>
    </p:spTree>
    <p:extLst>
      <p:ext uri="{BB962C8B-B14F-4D97-AF65-F5344CB8AC3E}">
        <p14:creationId xmlns:p14="http://schemas.microsoft.com/office/powerpoint/2010/main" val="1221335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BFC849-97E5-4094-B862-51F6629B4908}"/>
              </a:ext>
            </a:extLst>
          </p:cNvPr>
          <p:cNvSpPr>
            <a:spLocks noGrp="1"/>
          </p:cNvSpPr>
          <p:nvPr>
            <p:ph type="title"/>
          </p:nvPr>
        </p:nvSpPr>
        <p:spPr>
          <a:xfrm>
            <a:off x="6717160" y="1111827"/>
            <a:ext cx="4806184" cy="4634345"/>
          </a:xfrm>
          <a:noFill/>
        </p:spPr>
        <p:txBody>
          <a:bodyPr vert="horz" lIns="91440" tIns="45720" rIns="91440" bIns="45720" rtlCol="0" anchor="b">
            <a:normAutofit fontScale="90000"/>
          </a:bodyPr>
          <a:lstStyle/>
          <a:p>
            <a:pPr algn="ctr"/>
            <a:r>
              <a:rPr lang="en-US" sz="8000" b="1" dirty="0">
                <a:ln w="9525">
                  <a:solidFill>
                    <a:schemeClr val="bg1"/>
                  </a:solidFill>
                  <a:prstDash val="solid"/>
                </a:ln>
                <a:effectLst>
                  <a:outerShdw blurRad="12700" dist="38100" dir="2700000" algn="tl" rotWithShape="0">
                    <a:schemeClr val="bg1">
                      <a:lumMod val="50000"/>
                    </a:schemeClr>
                  </a:outerShdw>
                </a:effectLst>
              </a:rPr>
              <a:t>THE </a:t>
            </a:r>
            <a:br>
              <a:rPr lang="en-US" sz="8000" b="1" dirty="0">
                <a:ln w="9525">
                  <a:solidFill>
                    <a:schemeClr val="bg1"/>
                  </a:solidFill>
                  <a:prstDash val="solid"/>
                </a:ln>
                <a:effectLst>
                  <a:outerShdw blurRad="12700" dist="38100" dir="2700000" algn="tl" rotWithShape="0">
                    <a:schemeClr val="bg1">
                      <a:lumMod val="50000"/>
                    </a:schemeClr>
                  </a:outerShdw>
                </a:effectLst>
              </a:rPr>
            </a:br>
            <a:r>
              <a:rPr lang="en-US" sz="8000" b="1" dirty="0">
                <a:ln w="9525">
                  <a:solidFill>
                    <a:schemeClr val="bg1"/>
                  </a:solidFill>
                  <a:prstDash val="solid"/>
                </a:ln>
                <a:effectLst>
                  <a:outerShdw blurRad="12700" dist="38100" dir="2700000" algn="tl" rotWithShape="0">
                    <a:schemeClr val="bg1">
                      <a:lumMod val="50000"/>
                    </a:schemeClr>
                  </a:outerShdw>
                </a:effectLst>
              </a:rPr>
              <a:t>HOLY GRAIL</a:t>
            </a:r>
            <a:br>
              <a:rPr lang="en-US" sz="8000" b="1" dirty="0">
                <a:ln w="9525">
                  <a:solidFill>
                    <a:schemeClr val="bg1"/>
                  </a:solidFill>
                  <a:prstDash val="solid"/>
                </a:ln>
                <a:effectLst>
                  <a:outerShdw blurRad="12700" dist="38100" dir="2700000" algn="tl" rotWithShape="0">
                    <a:schemeClr val="bg1">
                      <a:lumMod val="50000"/>
                    </a:schemeClr>
                  </a:outerShdw>
                </a:effectLst>
              </a:rPr>
            </a:br>
            <a:r>
              <a:rPr lang="en-US" sz="8000" b="1" dirty="0">
                <a:ln w="9525">
                  <a:solidFill>
                    <a:schemeClr val="bg1"/>
                  </a:solidFill>
                  <a:prstDash val="solid"/>
                </a:ln>
                <a:effectLst>
                  <a:outerShdw blurRad="12700" dist="38100" dir="2700000" algn="tl" rotWithShape="0">
                    <a:schemeClr val="bg1">
                      <a:lumMod val="50000"/>
                    </a:schemeClr>
                  </a:outerShdw>
                </a:effectLst>
              </a:rPr>
              <a:t>IS</a:t>
            </a:r>
            <a:br>
              <a:rPr lang="en-US" sz="8000" b="1" dirty="0">
                <a:ln w="9525">
                  <a:solidFill>
                    <a:schemeClr val="bg1"/>
                  </a:solidFill>
                  <a:prstDash val="solid"/>
                </a:ln>
                <a:effectLst>
                  <a:outerShdw blurRad="12700" dist="38100" dir="2700000" algn="tl" rotWithShape="0">
                    <a:schemeClr val="bg1">
                      <a:lumMod val="50000"/>
                    </a:schemeClr>
                  </a:outerShdw>
                </a:effectLst>
              </a:rPr>
            </a:br>
            <a:r>
              <a:rPr lang="en-US" sz="8000" b="1" dirty="0">
                <a:ln w="9525">
                  <a:solidFill>
                    <a:schemeClr val="bg1"/>
                  </a:solidFill>
                  <a:prstDash val="solid"/>
                </a:ln>
                <a:effectLst>
                  <a:outerShdw blurRad="12700" dist="38100" dir="2700000" algn="tl" rotWithShape="0">
                    <a:schemeClr val="bg1">
                      <a:lumMod val="50000"/>
                    </a:schemeClr>
                  </a:outerShdw>
                </a:effectLst>
              </a:rPr>
              <a:t>YOU</a:t>
            </a:r>
          </a:p>
        </p:txBody>
      </p:sp>
      <p:pic>
        <p:nvPicPr>
          <p:cNvPr id="4" name="Picture 3" descr="A picture containing indoor, cup, table, sitting&#10;&#10;Description automatically generated">
            <a:extLst>
              <a:ext uri="{FF2B5EF4-FFF2-40B4-BE49-F238E27FC236}">
                <a16:creationId xmlns="" xmlns:a16="http://schemas.microsoft.com/office/drawing/2014/main" id="{DA80D68B-B094-48D7-BEE7-401AD6A38E3E}"/>
              </a:ext>
            </a:extLst>
          </p:cNvPr>
          <p:cNvPicPr>
            <a:picLocks noChangeAspect="1"/>
          </p:cNvPicPr>
          <p:nvPr/>
        </p:nvPicPr>
        <p:blipFill rotWithShape="1">
          <a:blip r:embed="rId2"/>
          <a:srcRect l="53089" r="8629"/>
          <a:stretch/>
        </p:blipFill>
        <p:spPr>
          <a:xfrm>
            <a:off x="20" y="10"/>
            <a:ext cx="6105635" cy="6857990"/>
          </a:xfrm>
          <a:prstGeom prst="rect">
            <a:avLst/>
          </a:prstGeom>
        </p:spPr>
      </p:pic>
    </p:spTree>
    <p:extLst>
      <p:ext uri="{BB962C8B-B14F-4D97-AF65-F5344CB8AC3E}">
        <p14:creationId xmlns:p14="http://schemas.microsoft.com/office/powerpoint/2010/main" val="3613159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7FE8EA-80B8-46BF-B29F-8064067856B4}"/>
              </a:ext>
            </a:extLst>
          </p:cNvPr>
          <p:cNvSpPr>
            <a:spLocks noGrp="1"/>
          </p:cNvSpPr>
          <p:nvPr>
            <p:ph type="title"/>
          </p:nvPr>
        </p:nvSpPr>
        <p:spPr/>
        <p:txBody>
          <a:bodyPr/>
          <a:lstStyle/>
          <a:p>
            <a:pPr algn="ctr"/>
            <a:r>
              <a:rPr lang="en-US" sz="4800" dirty="0"/>
              <a:t>THANK YOU!</a:t>
            </a:r>
            <a:br>
              <a:rPr lang="en-US" sz="4800" dirty="0"/>
            </a:br>
            <a:r>
              <a:rPr lang="en-US" b="1" dirty="0"/>
              <a:t/>
            </a:r>
            <a:br>
              <a:rPr lang="en-US" b="1" dirty="0"/>
            </a:br>
            <a:r>
              <a:rPr lang="en-US" b="1" dirty="0"/>
              <a:t>TO GOD BE THE GLORY!</a:t>
            </a:r>
          </a:p>
        </p:txBody>
      </p:sp>
    </p:spTree>
    <p:extLst>
      <p:ext uri="{BB962C8B-B14F-4D97-AF65-F5344CB8AC3E}">
        <p14:creationId xmlns:p14="http://schemas.microsoft.com/office/powerpoint/2010/main" val="1299215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07A3C0-0E44-4034-AF90-443900278AB6}"/>
              </a:ext>
            </a:extLst>
          </p:cNvPr>
          <p:cNvSpPr>
            <a:spLocks noGrp="1"/>
          </p:cNvSpPr>
          <p:nvPr>
            <p:ph type="title"/>
          </p:nvPr>
        </p:nvSpPr>
        <p:spPr>
          <a:xfrm>
            <a:off x="831850" y="500062"/>
            <a:ext cx="10515600" cy="5934075"/>
          </a:xfrm>
        </p:spPr>
        <p:txBody>
          <a:bodyPr>
            <a:noAutofit/>
          </a:bodyPr>
          <a:lstStyle/>
          <a:p>
            <a:pPr algn="ctr"/>
            <a:r>
              <a:rPr lang="en-US" sz="4400" dirty="0">
                <a:solidFill>
                  <a:srgbClr val="0000FF"/>
                </a:solidFill>
              </a:rPr>
              <a:t>WWW.BOHSOCIETY.COM</a:t>
            </a:r>
            <a:br>
              <a:rPr lang="en-US" sz="4400" dirty="0">
                <a:solidFill>
                  <a:srgbClr val="0000FF"/>
                </a:solidFill>
              </a:rPr>
            </a:br>
            <a:r>
              <a:rPr lang="en-US" sz="4800" dirty="0"/>
              <a:t/>
            </a:r>
            <a:br>
              <a:rPr lang="en-US" sz="4800" dirty="0"/>
            </a:br>
            <a:r>
              <a:rPr lang="en-US" sz="3600" b="1" dirty="0"/>
              <a:t/>
            </a:r>
            <a:br>
              <a:rPr lang="en-US" sz="3600" b="1" dirty="0"/>
            </a:br>
            <a:r>
              <a:rPr lang="en-US" sz="3600" dirty="0"/>
              <a:t/>
            </a:r>
            <a:br>
              <a:rPr lang="en-US" sz="3600" dirty="0"/>
            </a:br>
            <a:r>
              <a:rPr lang="en-US" sz="4800" dirty="0"/>
              <a:t>20% OFF ON ANNUAL PLAN</a:t>
            </a:r>
            <a:r>
              <a:rPr lang="en-US" sz="4000" dirty="0"/>
              <a:t/>
            </a:r>
            <a:br>
              <a:rPr lang="en-US" sz="4000" dirty="0"/>
            </a:br>
            <a:r>
              <a:rPr lang="en-US" sz="4000" dirty="0"/>
              <a:t/>
            </a:r>
            <a:br>
              <a:rPr lang="en-US" sz="4000" dirty="0"/>
            </a:br>
            <a:r>
              <a:rPr lang="en-US" sz="3200" b="1" dirty="0"/>
              <a:t>PROMO CODE</a:t>
            </a:r>
            <a:r>
              <a:rPr lang="en-US" sz="3200" dirty="0"/>
              <a:t>: SPYFRAT@INVESTA</a:t>
            </a:r>
            <a:br>
              <a:rPr lang="en-US" sz="3200" dirty="0"/>
            </a:br>
            <a:r>
              <a:rPr lang="en-US" sz="4800" dirty="0"/>
              <a:t/>
            </a:r>
            <a:br>
              <a:rPr lang="en-US" sz="4800" dirty="0"/>
            </a:br>
            <a:r>
              <a:rPr lang="en-US" sz="3200" dirty="0"/>
              <a:t>*</a:t>
            </a:r>
            <a:r>
              <a:rPr lang="en-US" sz="2800" dirty="0"/>
              <a:t>valid until 31 December 2018</a:t>
            </a:r>
            <a:r>
              <a:rPr lang="en-US" sz="4000" dirty="0"/>
              <a:t/>
            </a:r>
            <a:br>
              <a:rPr lang="en-US" sz="4000" dirty="0"/>
            </a:br>
            <a:endParaRPr lang="en-US" sz="4800" dirty="0"/>
          </a:p>
        </p:txBody>
      </p:sp>
      <p:sp>
        <p:nvSpPr>
          <p:cNvPr id="6" name="Rectangle 5">
            <a:extLst>
              <a:ext uri="{FF2B5EF4-FFF2-40B4-BE49-F238E27FC236}">
                <a16:creationId xmlns="" xmlns:a16="http://schemas.microsoft.com/office/drawing/2014/main" id="{BA68D05E-8DA4-4A39-8105-75697D18F1E7}"/>
              </a:ext>
            </a:extLst>
          </p:cNvPr>
          <p:cNvSpPr/>
          <p:nvPr/>
        </p:nvSpPr>
        <p:spPr>
          <a:xfrm>
            <a:off x="90487" y="1637784"/>
            <a:ext cx="12011025" cy="923330"/>
          </a:xfrm>
          <a:prstGeom prst="rect">
            <a:avLst/>
          </a:prstGeom>
          <a:solidFill>
            <a:srgbClr val="FF3300"/>
          </a:solidFill>
        </p:spPr>
        <p:txBody>
          <a:bodyPr wrap="square">
            <a:spAutoFit/>
          </a:bodyPr>
          <a:lstStyle/>
          <a:p>
            <a:pPr algn="ctr"/>
            <a:r>
              <a:rPr lang="en-US" sz="5400" b="1" dirty="0">
                <a:solidFill>
                  <a:schemeClr val="bg1"/>
                </a:solidFill>
              </a:rPr>
              <a:t>SPECIAL RATE* FOR SUMMIT ATTENDEES</a:t>
            </a:r>
            <a:endParaRPr lang="en-US" sz="5400" dirty="0">
              <a:solidFill>
                <a:schemeClr val="bg1"/>
              </a:solidFill>
            </a:endParaRPr>
          </a:p>
        </p:txBody>
      </p:sp>
    </p:spTree>
    <p:extLst>
      <p:ext uri="{BB962C8B-B14F-4D97-AF65-F5344CB8AC3E}">
        <p14:creationId xmlns:p14="http://schemas.microsoft.com/office/powerpoint/2010/main" val="22160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1037</TotalTime>
  <Words>2597</Words>
  <Application>Microsoft Office PowerPoint</Application>
  <PresentationFormat>Custom</PresentationFormat>
  <Paragraphs>268</Paragraphs>
  <Slides>61</Slides>
  <Notes>1</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Parabolic Framework and Trading Hacks</vt:lpstr>
      <vt:lpstr>DISCLAIMER</vt:lpstr>
      <vt:lpstr>PowerPoint Presentation</vt:lpstr>
      <vt:lpstr>PowerPoint Presentation</vt:lpstr>
      <vt:lpstr>MY TRADING SYSTEM</vt:lpstr>
      <vt:lpstr>PowerPoint Presentation</vt:lpstr>
      <vt:lpstr>PowerPoint Presentation</vt:lpstr>
      <vt:lpstr>PowerPoint Presentation</vt:lpstr>
      <vt:lpstr>PowerPoint Presentation</vt:lpstr>
      <vt:lpstr>PowerPoint Presentation</vt:lpstr>
      <vt:lpstr>PARABOLIC FRAMEWORK</vt:lpstr>
      <vt:lpstr>PowerPoint Presentation</vt:lpstr>
      <vt:lpstr>PowerPoint Presentation</vt:lpstr>
      <vt:lpstr>PowerPoint Presentation</vt:lpstr>
      <vt:lpstr>PowerPoint Presentation</vt:lpstr>
      <vt:lpstr>PowerPoint Presentation</vt:lpstr>
      <vt:lpstr>EXAMPLES OF PARABURST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20 PERCENT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MY BEBEMON TRADE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HOLY GRAIL</vt:lpstr>
      <vt:lpstr>PowerPoint Presentation</vt:lpstr>
      <vt:lpstr>THE  HOLY GRAIL IS YOU</vt:lpstr>
      <vt:lpstr>THANK YOU!  TO GOD BE THE GLORY!</vt:lpstr>
      <vt:lpstr>WWW.BOHSOCIETY.COM    20% OFF ON ANNUAL PLAN  PROMO CODE: SPYFRAT@INVESTA  *valid until 31 December 2018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SPYFRAT’S TRADE SET-UPS</dc:title>
  <dc:creator>Jet Mojica</dc:creator>
  <cp:lastModifiedBy>summit</cp:lastModifiedBy>
  <cp:revision>32</cp:revision>
  <dcterms:created xsi:type="dcterms:W3CDTF">2018-12-03T10:05:07Z</dcterms:created>
  <dcterms:modified xsi:type="dcterms:W3CDTF">2018-12-07T06:51:07Z</dcterms:modified>
</cp:coreProperties>
</file>